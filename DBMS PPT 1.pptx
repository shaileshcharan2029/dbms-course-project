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Open Sauce Bold" charset="1" panose="00000800000000000000"/>
      <p:regular r:id="rId12"/>
    </p:embeddedFont>
    <p:embeddedFont>
      <p:font typeface="Open Sauce Medium" charset="1" panose="00000600000000000000"/>
      <p:regular r:id="rId13"/>
    </p:embeddedFont>
    <p:embeddedFont>
      <p:font typeface="Open Sauce Semi-Bold" charset="1" panose="00000700000000000000"/>
      <p:regular r:id="rId14"/>
    </p:embeddedFont>
    <p:embeddedFont>
      <p:font typeface="Open Sauce" charset="1" panose="000005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png" Type="http://schemas.openxmlformats.org/officeDocument/2006/relationships/image"/><Relationship Id="rId12" Target="../media/image14.png" Type="http://schemas.openxmlformats.org/officeDocument/2006/relationships/image"/><Relationship Id="rId13" Target="../media/image15.png" Type="http://schemas.openxmlformats.org/officeDocument/2006/relationships/image"/><Relationship Id="rId14" Target="../media/image16.png" Type="http://schemas.openxmlformats.org/officeDocument/2006/relationships/image"/><Relationship Id="rId15" Target="../media/image17.png" Type="http://schemas.openxmlformats.org/officeDocument/2006/relationships/image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Relationship Id="rId8" Target="../media/image10.pn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png" Type="http://schemas.openxmlformats.org/officeDocument/2006/relationships/image"/><Relationship Id="rId12" Target="../media/image28.png" Type="http://schemas.openxmlformats.org/officeDocument/2006/relationships/image"/><Relationship Id="rId13" Target="../media/image29.png" Type="http://schemas.openxmlformats.org/officeDocument/2006/relationships/image"/><Relationship Id="rId14" Target="../media/image30.png" Type="http://schemas.openxmlformats.org/officeDocument/2006/relationships/image"/><Relationship Id="rId15" Target="../media/image31.png" Type="http://schemas.openxmlformats.org/officeDocument/2006/relationships/image"/><Relationship Id="rId16" Target="../media/image32.png" Type="http://schemas.openxmlformats.org/officeDocument/2006/relationships/image"/><Relationship Id="rId17" Target="../media/image33.png" Type="http://schemas.openxmlformats.org/officeDocument/2006/relationships/image"/><Relationship Id="rId18" Target="../media/image34.png" Type="http://schemas.openxmlformats.org/officeDocument/2006/relationships/image"/><Relationship Id="rId19" Target="../media/image35.png" Type="http://schemas.openxmlformats.org/officeDocument/2006/relationships/image"/><Relationship Id="rId2" Target="../media/image18.png" Type="http://schemas.openxmlformats.org/officeDocument/2006/relationships/image"/><Relationship Id="rId20" Target="../media/image36.png" Type="http://schemas.openxmlformats.org/officeDocument/2006/relationships/image"/><Relationship Id="rId21" Target="../media/image37.png" Type="http://schemas.openxmlformats.org/officeDocument/2006/relationships/image"/><Relationship Id="rId22" Target="../media/image38.png" Type="http://schemas.openxmlformats.org/officeDocument/2006/relationships/image"/><Relationship Id="rId23" Target="../media/image39.png" Type="http://schemas.openxmlformats.org/officeDocument/2006/relationships/image"/><Relationship Id="rId24" Target="../media/image40.png" Type="http://schemas.openxmlformats.org/officeDocument/2006/relationships/image"/><Relationship Id="rId25" Target="../media/image41.pn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Relationship Id="rId7" Target="../media/image23.png" Type="http://schemas.openxmlformats.org/officeDocument/2006/relationships/image"/><Relationship Id="rId8" Target="../media/image24.pn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0.png" Type="http://schemas.openxmlformats.org/officeDocument/2006/relationships/image"/><Relationship Id="rId11" Target="../media/image51.png" Type="http://schemas.openxmlformats.org/officeDocument/2006/relationships/image"/><Relationship Id="rId12" Target="../media/image52.png" Type="http://schemas.openxmlformats.org/officeDocument/2006/relationships/image"/><Relationship Id="rId13" Target="../media/image53.png" Type="http://schemas.openxmlformats.org/officeDocument/2006/relationships/image"/><Relationship Id="rId14" Target="../media/image54.png" Type="http://schemas.openxmlformats.org/officeDocument/2006/relationships/image"/><Relationship Id="rId15" Target="../media/image55.png" Type="http://schemas.openxmlformats.org/officeDocument/2006/relationships/image"/><Relationship Id="rId16" Target="../media/image56.png" Type="http://schemas.openxmlformats.org/officeDocument/2006/relationships/image"/><Relationship Id="rId17" Target="../media/image57.png" Type="http://schemas.openxmlformats.org/officeDocument/2006/relationships/image"/><Relationship Id="rId18" Target="../media/image58.png" Type="http://schemas.openxmlformats.org/officeDocument/2006/relationships/image"/><Relationship Id="rId19" Target="../media/image59.png" Type="http://schemas.openxmlformats.org/officeDocument/2006/relationships/image"/><Relationship Id="rId2" Target="../media/image42.png" Type="http://schemas.openxmlformats.org/officeDocument/2006/relationships/image"/><Relationship Id="rId3" Target="../media/image43.png" Type="http://schemas.openxmlformats.org/officeDocument/2006/relationships/image"/><Relationship Id="rId4" Target="../media/image44.png" Type="http://schemas.openxmlformats.org/officeDocument/2006/relationships/image"/><Relationship Id="rId5" Target="../media/image45.png" Type="http://schemas.openxmlformats.org/officeDocument/2006/relationships/image"/><Relationship Id="rId6" Target="../media/image46.png" Type="http://schemas.openxmlformats.org/officeDocument/2006/relationships/image"/><Relationship Id="rId7" Target="../media/image47.png" Type="http://schemas.openxmlformats.org/officeDocument/2006/relationships/image"/><Relationship Id="rId8" Target="../media/image48.png" Type="http://schemas.openxmlformats.org/officeDocument/2006/relationships/image"/><Relationship Id="rId9" Target="../media/image4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0.png" Type="http://schemas.openxmlformats.org/officeDocument/2006/relationships/image"/><Relationship Id="rId3" Target="../media/image61.png" Type="http://schemas.openxmlformats.org/officeDocument/2006/relationships/image"/><Relationship Id="rId4" Target="../media/image62.png" Type="http://schemas.openxmlformats.org/officeDocument/2006/relationships/image"/><Relationship Id="rId5" Target="../media/image63.png" Type="http://schemas.openxmlformats.org/officeDocument/2006/relationships/image"/><Relationship Id="rId6" Target="../media/image64.png" Type="http://schemas.openxmlformats.org/officeDocument/2006/relationships/image"/><Relationship Id="rId7" Target="../media/image65.png" Type="http://schemas.openxmlformats.org/officeDocument/2006/relationships/image"/><Relationship Id="rId8" Target="../media/image6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705850" y="2352675"/>
            <a:ext cx="8715375" cy="6867525"/>
          </a:xfrm>
          <a:custGeom>
            <a:avLst/>
            <a:gdLst/>
            <a:ahLst/>
            <a:cxnLst/>
            <a:rect r="r" b="b" t="t" l="l"/>
            <a:pathLst>
              <a:path h="6867525" w="8715375">
                <a:moveTo>
                  <a:pt x="0" y="0"/>
                </a:moveTo>
                <a:lnTo>
                  <a:pt x="8715375" y="0"/>
                </a:lnTo>
                <a:lnTo>
                  <a:pt x="8715375" y="6867525"/>
                </a:lnTo>
                <a:lnTo>
                  <a:pt x="0" y="68675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76656" y="796040"/>
            <a:ext cx="9418320" cy="3434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81"/>
              </a:lnSpc>
            </a:pPr>
            <a:r>
              <a:rPr lang="en-US" sz="5746" spc="-172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Design and Implementation of a DBMS for Scholarship and Financial Aid Management System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7700" y="5353050"/>
            <a:ext cx="1095375" cy="219075"/>
          </a:xfrm>
          <a:custGeom>
            <a:avLst/>
            <a:gdLst/>
            <a:ahLst/>
            <a:cxnLst/>
            <a:rect r="r" b="b" t="t" l="l"/>
            <a:pathLst>
              <a:path h="219075" w="1095375">
                <a:moveTo>
                  <a:pt x="0" y="0"/>
                </a:moveTo>
                <a:lnTo>
                  <a:pt x="1095375" y="0"/>
                </a:lnTo>
                <a:lnTo>
                  <a:pt x="1095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47700" y="6470045"/>
            <a:ext cx="7888284" cy="1014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4"/>
              </a:lnSpc>
            </a:pPr>
            <a:r>
              <a:rPr lang="en-US" sz="2667" b="true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Student Name :- Shailesh charan</a:t>
            </a:r>
          </a:p>
          <a:p>
            <a:pPr algn="l">
              <a:lnSpc>
                <a:spcPts val="4134"/>
              </a:lnSpc>
            </a:pPr>
            <a:r>
              <a:rPr lang="en-US" sz="2667" b="true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Roll Number:- 25WU0102252</a:t>
            </a:r>
          </a:p>
        </p:txBody>
      </p:sp>
      <p:sp>
        <p:nvSpPr>
          <p:cNvPr name="TextBox 7" id="7"/>
          <p:cNvSpPr txBox="true"/>
          <p:nvPr/>
        </p:nvSpPr>
        <p:spPr>
          <a:xfrm rot="248399">
            <a:off x="14246462" y="5505069"/>
            <a:ext cx="184708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6"/>
              </a:lnSpc>
            </a:pPr>
            <a:r>
              <a:rPr lang="en-US" b="true" sz="1980">
                <a:solidFill>
                  <a:srgbClr val="000030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FINANCIAL AID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03504" y="1638109"/>
            <a:ext cx="7333488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75"/>
              </a:lnSpc>
            </a:pPr>
            <a:r>
              <a:rPr lang="en-US" sz="6312" spc="-189" b="true">
                <a:solidFill>
                  <a:srgbClr val="38B6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Problem Statement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28625" y="2781300"/>
            <a:ext cx="1095375" cy="438150"/>
          </a:xfrm>
          <a:custGeom>
            <a:avLst/>
            <a:gdLst/>
            <a:ahLst/>
            <a:cxnLst/>
            <a:rect r="r" b="b" t="t" l="l"/>
            <a:pathLst>
              <a:path h="438150" w="1095375">
                <a:moveTo>
                  <a:pt x="0" y="0"/>
                </a:moveTo>
                <a:lnTo>
                  <a:pt x="1095375" y="0"/>
                </a:lnTo>
                <a:lnTo>
                  <a:pt x="10953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03504" y="3519291"/>
            <a:ext cx="6766560" cy="84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0"/>
              </a:lnSpc>
            </a:pPr>
            <a:r>
              <a:rPr lang="en-US" sz="2639" spc="-79" b="true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Scholarship and financial aid processes today are </a:t>
            </a:r>
            <a:r>
              <a:rPr lang="en-US" sz="2639" spc="-79" b="true">
                <a:solidFill>
                  <a:srgbClr val="38B6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fragmented, manual, and opaque.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68096" y="4809116"/>
            <a:ext cx="6181344" cy="361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271" spc="-6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Student records are scattered and inconsistent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68096" y="5486248"/>
            <a:ext cx="5102352" cy="789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7"/>
              </a:lnSpc>
            </a:pPr>
            <a:r>
              <a:rPr lang="en-US" sz="2298" spc="-6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Applications, eligibility, approvals, and disbursements are hard to track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68096" y="6630086"/>
            <a:ext cx="5120640" cy="361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7"/>
              </a:lnSpc>
            </a:pPr>
            <a:r>
              <a:rPr lang="en-US" sz="2298" spc="-6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Transparency and reporting are limited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68096" y="7329602"/>
            <a:ext cx="5010912" cy="361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7"/>
              </a:lnSpc>
            </a:pPr>
            <a:r>
              <a:rPr lang="en-US" sz="2298" spc="-6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Administrative visibility is constrained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428625" y="7924800"/>
            <a:ext cx="7629525" cy="219075"/>
          </a:xfrm>
          <a:custGeom>
            <a:avLst/>
            <a:gdLst/>
            <a:ahLst/>
            <a:cxnLst/>
            <a:rect r="r" b="b" t="t" l="l"/>
            <a:pathLst>
              <a:path h="219075" w="7629525">
                <a:moveTo>
                  <a:pt x="0" y="0"/>
                </a:moveTo>
                <a:lnTo>
                  <a:pt x="7629525" y="0"/>
                </a:lnTo>
                <a:lnTo>
                  <a:pt x="76295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03504" y="8520744"/>
            <a:ext cx="7644384" cy="870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2"/>
              </a:lnSpc>
            </a:pPr>
            <a:r>
              <a:rPr lang="en-US" sz="2709" spc="-81" b="true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A centralized database makes the entire process </a:t>
            </a:r>
            <a:r>
              <a:rPr lang="en-US" sz="2709" spc="-81" b="true">
                <a:solidFill>
                  <a:srgbClr val="38B6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faster, more accurate, and transparent.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9144000" y="1495425"/>
            <a:ext cx="2619375" cy="1295400"/>
          </a:xfrm>
          <a:custGeom>
            <a:avLst/>
            <a:gdLst/>
            <a:ahLst/>
            <a:cxnLst/>
            <a:rect r="r" b="b" t="t" l="l"/>
            <a:pathLst>
              <a:path h="1295400" w="2619375">
                <a:moveTo>
                  <a:pt x="0" y="0"/>
                </a:moveTo>
                <a:lnTo>
                  <a:pt x="2619375" y="0"/>
                </a:lnTo>
                <a:lnTo>
                  <a:pt x="261937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454896" y="1800439"/>
            <a:ext cx="1847088" cy="629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5"/>
              </a:lnSpc>
            </a:pPr>
            <a:r>
              <a:rPr lang="en-US" b="true" sz="1846" spc="-55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Scattered Student Records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9144000" y="2781300"/>
            <a:ext cx="2619375" cy="1295400"/>
          </a:xfrm>
          <a:custGeom>
            <a:avLst/>
            <a:gdLst/>
            <a:ahLst/>
            <a:cxnLst/>
            <a:rect r="r" b="b" t="t" l="l"/>
            <a:pathLst>
              <a:path h="1295400" w="2619375">
                <a:moveTo>
                  <a:pt x="0" y="0"/>
                </a:moveTo>
                <a:lnTo>
                  <a:pt x="2619375" y="0"/>
                </a:lnTo>
                <a:lnTo>
                  <a:pt x="261937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509760" y="3129552"/>
            <a:ext cx="1755648" cy="656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7"/>
              </a:lnSpc>
            </a:pPr>
            <a:r>
              <a:rPr lang="en-US" b="true" sz="1891" spc="-56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Duplicate or Inaccurate Data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9144000" y="4067175"/>
            <a:ext cx="2619375" cy="1504950"/>
          </a:xfrm>
          <a:custGeom>
            <a:avLst/>
            <a:gdLst/>
            <a:ahLst/>
            <a:cxnLst/>
            <a:rect r="r" b="b" t="t" l="l"/>
            <a:pathLst>
              <a:path h="1504950" w="2619375">
                <a:moveTo>
                  <a:pt x="0" y="0"/>
                </a:moveTo>
                <a:lnTo>
                  <a:pt x="2619375" y="0"/>
                </a:lnTo>
                <a:lnTo>
                  <a:pt x="26193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601200" y="4478759"/>
            <a:ext cx="1554480" cy="674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1"/>
              </a:lnSpc>
            </a:pPr>
            <a:r>
              <a:rPr lang="en-US" b="true" sz="1958" spc="-58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Hard to Track Processes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9144000" y="5572125"/>
            <a:ext cx="2619375" cy="1285875"/>
          </a:xfrm>
          <a:custGeom>
            <a:avLst/>
            <a:gdLst/>
            <a:ahLst/>
            <a:cxnLst/>
            <a:rect r="r" b="b" t="t" l="l"/>
            <a:pathLst>
              <a:path h="1285875" w="2619375">
                <a:moveTo>
                  <a:pt x="0" y="0"/>
                </a:moveTo>
                <a:lnTo>
                  <a:pt x="2619375" y="0"/>
                </a:lnTo>
                <a:lnTo>
                  <a:pt x="261937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9601200" y="5826073"/>
            <a:ext cx="1554480" cy="674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0"/>
              </a:lnSpc>
            </a:pPr>
            <a:r>
              <a:rPr lang="en-US" b="true" sz="1935" spc="-58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Limited Transparency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9144000" y="6858000"/>
            <a:ext cx="2619375" cy="1285875"/>
          </a:xfrm>
          <a:custGeom>
            <a:avLst/>
            <a:gdLst/>
            <a:ahLst/>
            <a:cxnLst/>
            <a:rect r="r" b="b" t="t" l="l"/>
            <a:pathLst>
              <a:path h="1285875" w="2619375">
                <a:moveTo>
                  <a:pt x="0" y="0"/>
                </a:moveTo>
                <a:lnTo>
                  <a:pt x="2619375" y="0"/>
                </a:lnTo>
                <a:lnTo>
                  <a:pt x="261937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9290304" y="7163383"/>
            <a:ext cx="2157984" cy="674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0"/>
              </a:lnSpc>
            </a:pPr>
            <a:r>
              <a:rPr lang="en-US" b="true" sz="1935" spc="-58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Low Administrative Visibility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1534775" y="1924050"/>
            <a:ext cx="2400300" cy="2581275"/>
          </a:xfrm>
          <a:custGeom>
            <a:avLst/>
            <a:gdLst/>
            <a:ahLst/>
            <a:cxnLst/>
            <a:rect r="r" b="b" t="t" l="l"/>
            <a:pathLst>
              <a:path h="2581275" w="2400300">
                <a:moveTo>
                  <a:pt x="0" y="0"/>
                </a:moveTo>
                <a:lnTo>
                  <a:pt x="2400300" y="0"/>
                </a:lnTo>
                <a:lnTo>
                  <a:pt x="2400300" y="2581275"/>
                </a:lnTo>
                <a:lnTo>
                  <a:pt x="0" y="25812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1534775" y="4286250"/>
            <a:ext cx="2400300" cy="647700"/>
          </a:xfrm>
          <a:custGeom>
            <a:avLst/>
            <a:gdLst/>
            <a:ahLst/>
            <a:cxnLst/>
            <a:rect r="r" b="b" t="t" l="l"/>
            <a:pathLst>
              <a:path h="647700" w="2400300">
                <a:moveTo>
                  <a:pt x="0" y="0"/>
                </a:moveTo>
                <a:lnTo>
                  <a:pt x="2400300" y="0"/>
                </a:lnTo>
                <a:lnTo>
                  <a:pt x="2400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1534775" y="4714875"/>
            <a:ext cx="2400300" cy="428625"/>
          </a:xfrm>
          <a:custGeom>
            <a:avLst/>
            <a:gdLst/>
            <a:ahLst/>
            <a:cxnLst/>
            <a:rect r="r" b="b" t="t" l="l"/>
            <a:pathLst>
              <a:path h="428625" w="2400300">
                <a:moveTo>
                  <a:pt x="0" y="0"/>
                </a:moveTo>
                <a:lnTo>
                  <a:pt x="2400300" y="0"/>
                </a:lnTo>
                <a:lnTo>
                  <a:pt x="24003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1534775" y="4924425"/>
            <a:ext cx="2400300" cy="647700"/>
          </a:xfrm>
          <a:custGeom>
            <a:avLst/>
            <a:gdLst/>
            <a:ahLst/>
            <a:cxnLst/>
            <a:rect r="r" b="b" t="t" l="l"/>
            <a:pathLst>
              <a:path h="647700" w="2400300">
                <a:moveTo>
                  <a:pt x="0" y="0"/>
                </a:moveTo>
                <a:lnTo>
                  <a:pt x="2400300" y="0"/>
                </a:lnTo>
                <a:lnTo>
                  <a:pt x="2400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1534775" y="5353050"/>
            <a:ext cx="2400300" cy="2362200"/>
          </a:xfrm>
          <a:custGeom>
            <a:avLst/>
            <a:gdLst/>
            <a:ahLst/>
            <a:cxnLst/>
            <a:rect r="r" b="b" t="t" l="l"/>
            <a:pathLst>
              <a:path h="2362200" w="2400300">
                <a:moveTo>
                  <a:pt x="0" y="0"/>
                </a:moveTo>
                <a:lnTo>
                  <a:pt x="2400300" y="0"/>
                </a:lnTo>
                <a:lnTo>
                  <a:pt x="240030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3925550" y="2781300"/>
            <a:ext cx="3495675" cy="4076700"/>
          </a:xfrm>
          <a:custGeom>
            <a:avLst/>
            <a:gdLst/>
            <a:ahLst/>
            <a:cxnLst/>
            <a:rect r="r" b="b" t="t" l="l"/>
            <a:pathLst>
              <a:path h="4076700" w="3495675">
                <a:moveTo>
                  <a:pt x="0" y="0"/>
                </a:moveTo>
                <a:lnTo>
                  <a:pt x="3495675" y="0"/>
                </a:lnTo>
                <a:lnTo>
                  <a:pt x="3495675" y="4076700"/>
                </a:lnTo>
                <a:lnTo>
                  <a:pt x="0" y="407670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4666976" y="5025009"/>
            <a:ext cx="2029968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0"/>
              </a:lnSpc>
            </a:pPr>
            <a:r>
              <a:rPr lang="en-US" b="true" sz="2925" spc="-8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Centralized Database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209776" y="7143369"/>
            <a:ext cx="2889504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9"/>
              </a:lnSpc>
            </a:pPr>
            <a:r>
              <a:rPr lang="en-US" b="true" sz="2850" spc="-85">
                <a:solidFill>
                  <a:srgbClr val="38B6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Faster. Accurate. Transparent.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03504" y="712280"/>
            <a:ext cx="5376672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30"/>
              </a:lnSpc>
            </a:pPr>
            <a:r>
              <a:rPr lang="en-US" sz="6358" spc="-19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Introduction &amp;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21792" y="726567"/>
            <a:ext cx="11228832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56"/>
              </a:lnSpc>
            </a:pPr>
            <a:r>
              <a:rPr lang="en-US" sz="6130" spc="-245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Proposed System &amp; </a:t>
            </a:r>
            <a:r>
              <a:rPr lang="en-US" sz="6130" spc="-245" b="true">
                <a:solidFill>
                  <a:srgbClr val="37C9F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Objectives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28625" y="1924050"/>
            <a:ext cx="1095375" cy="219075"/>
          </a:xfrm>
          <a:custGeom>
            <a:avLst/>
            <a:gdLst/>
            <a:ahLst/>
            <a:cxnLst/>
            <a:rect r="r" b="b" t="t" l="l"/>
            <a:pathLst>
              <a:path h="219075" w="1095375">
                <a:moveTo>
                  <a:pt x="0" y="0"/>
                </a:moveTo>
                <a:lnTo>
                  <a:pt x="1095375" y="0"/>
                </a:lnTo>
                <a:lnTo>
                  <a:pt x="1095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620000" y="1924050"/>
            <a:ext cx="2619375" cy="2581275"/>
          </a:xfrm>
          <a:custGeom>
            <a:avLst/>
            <a:gdLst/>
            <a:ahLst/>
            <a:cxnLst/>
            <a:rect r="r" b="b" t="t" l="l"/>
            <a:pathLst>
              <a:path h="2581275" w="2619375">
                <a:moveTo>
                  <a:pt x="0" y="0"/>
                </a:moveTo>
                <a:lnTo>
                  <a:pt x="2619375" y="0"/>
                </a:lnTo>
                <a:lnTo>
                  <a:pt x="2619375" y="2581275"/>
                </a:lnTo>
                <a:lnTo>
                  <a:pt x="0" y="25812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101584" y="2896172"/>
            <a:ext cx="1755648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1"/>
              </a:lnSpc>
            </a:pPr>
            <a:r>
              <a:rPr lang="en-US" b="true" sz="2634" spc="-105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Centralized Database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733550" y="4495800"/>
            <a:ext cx="14820900" cy="1076325"/>
          </a:xfrm>
          <a:custGeom>
            <a:avLst/>
            <a:gdLst/>
            <a:ahLst/>
            <a:cxnLst/>
            <a:rect r="r" b="b" t="t" l="l"/>
            <a:pathLst>
              <a:path h="1076325" w="14820900">
                <a:moveTo>
                  <a:pt x="0" y="0"/>
                </a:moveTo>
                <a:lnTo>
                  <a:pt x="14820900" y="0"/>
                </a:lnTo>
                <a:lnTo>
                  <a:pt x="148209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47700" y="5353050"/>
            <a:ext cx="2400300" cy="2581275"/>
          </a:xfrm>
          <a:custGeom>
            <a:avLst/>
            <a:gdLst/>
            <a:ahLst/>
            <a:cxnLst/>
            <a:rect r="r" b="b" t="t" l="l"/>
            <a:pathLst>
              <a:path h="2581275" w="2400300">
                <a:moveTo>
                  <a:pt x="0" y="0"/>
                </a:moveTo>
                <a:lnTo>
                  <a:pt x="2400300" y="0"/>
                </a:lnTo>
                <a:lnTo>
                  <a:pt x="2400300" y="2581275"/>
                </a:lnTo>
                <a:lnTo>
                  <a:pt x="0" y="25812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04925" y="5572125"/>
            <a:ext cx="1095375" cy="1285875"/>
          </a:xfrm>
          <a:custGeom>
            <a:avLst/>
            <a:gdLst/>
            <a:ahLst/>
            <a:cxnLst/>
            <a:rect r="r" b="b" t="t" l="l"/>
            <a:pathLst>
              <a:path h="1285875" w="1095375">
                <a:moveTo>
                  <a:pt x="0" y="0"/>
                </a:moveTo>
                <a:lnTo>
                  <a:pt x="1095375" y="0"/>
                </a:lnTo>
                <a:lnTo>
                  <a:pt x="109537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35024" y="7112127"/>
            <a:ext cx="1078992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6"/>
              </a:lnSpc>
            </a:pPr>
            <a:r>
              <a:rPr lang="en-US" b="true" sz="2371" spc="-94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Student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2828925" y="6210300"/>
            <a:ext cx="876300" cy="438150"/>
          </a:xfrm>
          <a:custGeom>
            <a:avLst/>
            <a:gdLst/>
            <a:ahLst/>
            <a:cxnLst/>
            <a:rect r="r" b="b" t="t" l="l"/>
            <a:pathLst>
              <a:path h="438150" w="876300">
                <a:moveTo>
                  <a:pt x="0" y="0"/>
                </a:moveTo>
                <a:lnTo>
                  <a:pt x="876300" y="0"/>
                </a:lnTo>
                <a:lnTo>
                  <a:pt x="87630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476625" y="5353050"/>
            <a:ext cx="2409825" cy="2581275"/>
          </a:xfrm>
          <a:custGeom>
            <a:avLst/>
            <a:gdLst/>
            <a:ahLst/>
            <a:cxnLst/>
            <a:rect r="r" b="b" t="t" l="l"/>
            <a:pathLst>
              <a:path h="2581275" w="2409825">
                <a:moveTo>
                  <a:pt x="0" y="0"/>
                </a:moveTo>
                <a:lnTo>
                  <a:pt x="2409825" y="0"/>
                </a:lnTo>
                <a:lnTo>
                  <a:pt x="2409825" y="2581275"/>
                </a:lnTo>
                <a:lnTo>
                  <a:pt x="0" y="25812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133850" y="5572125"/>
            <a:ext cx="1095375" cy="1285875"/>
          </a:xfrm>
          <a:custGeom>
            <a:avLst/>
            <a:gdLst/>
            <a:ahLst/>
            <a:cxnLst/>
            <a:rect r="r" b="b" t="t" l="l"/>
            <a:pathLst>
              <a:path h="1285875" w="1095375">
                <a:moveTo>
                  <a:pt x="0" y="0"/>
                </a:moveTo>
                <a:lnTo>
                  <a:pt x="1095375" y="0"/>
                </a:lnTo>
                <a:lnTo>
                  <a:pt x="109537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986784" y="7112127"/>
            <a:ext cx="1536192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2"/>
              </a:lnSpc>
            </a:pPr>
            <a:r>
              <a:rPr lang="en-US" b="true" sz="2343" spc="-93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Application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5657850" y="6210300"/>
            <a:ext cx="876300" cy="438150"/>
          </a:xfrm>
          <a:custGeom>
            <a:avLst/>
            <a:gdLst/>
            <a:ahLst/>
            <a:cxnLst/>
            <a:rect r="r" b="b" t="t" l="l"/>
            <a:pathLst>
              <a:path h="438150" w="876300">
                <a:moveTo>
                  <a:pt x="0" y="0"/>
                </a:moveTo>
                <a:lnTo>
                  <a:pt x="876300" y="0"/>
                </a:lnTo>
                <a:lnTo>
                  <a:pt x="87630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305550" y="5353050"/>
            <a:ext cx="2409825" cy="2581275"/>
          </a:xfrm>
          <a:custGeom>
            <a:avLst/>
            <a:gdLst/>
            <a:ahLst/>
            <a:cxnLst/>
            <a:rect r="r" b="b" t="t" l="l"/>
            <a:pathLst>
              <a:path h="2581275" w="2409825">
                <a:moveTo>
                  <a:pt x="0" y="0"/>
                </a:moveTo>
                <a:lnTo>
                  <a:pt x="2409825" y="0"/>
                </a:lnTo>
                <a:lnTo>
                  <a:pt x="2409825" y="2581275"/>
                </a:lnTo>
                <a:lnTo>
                  <a:pt x="0" y="25812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6962775" y="5572125"/>
            <a:ext cx="1314450" cy="1285875"/>
          </a:xfrm>
          <a:custGeom>
            <a:avLst/>
            <a:gdLst/>
            <a:ahLst/>
            <a:cxnLst/>
            <a:rect r="r" b="b" t="t" l="l"/>
            <a:pathLst>
              <a:path h="1285875" w="1314450">
                <a:moveTo>
                  <a:pt x="0" y="0"/>
                </a:moveTo>
                <a:lnTo>
                  <a:pt x="1314450" y="0"/>
                </a:lnTo>
                <a:lnTo>
                  <a:pt x="13144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6894576" y="6977063"/>
            <a:ext cx="1536192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6"/>
              </a:lnSpc>
            </a:pPr>
            <a:r>
              <a:rPr lang="en-US" b="true" sz="2371" spc="-94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Eligibility Verification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8705850" y="6210300"/>
            <a:ext cx="876300" cy="438150"/>
          </a:xfrm>
          <a:custGeom>
            <a:avLst/>
            <a:gdLst/>
            <a:ahLst/>
            <a:cxnLst/>
            <a:rect r="r" b="b" t="t" l="l"/>
            <a:pathLst>
              <a:path h="438150" w="876300">
                <a:moveTo>
                  <a:pt x="0" y="0"/>
                </a:moveTo>
                <a:lnTo>
                  <a:pt x="876300" y="0"/>
                </a:lnTo>
                <a:lnTo>
                  <a:pt x="87630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9353550" y="5353050"/>
            <a:ext cx="2409825" cy="2581275"/>
          </a:xfrm>
          <a:custGeom>
            <a:avLst/>
            <a:gdLst/>
            <a:ahLst/>
            <a:cxnLst/>
            <a:rect r="r" b="b" t="t" l="l"/>
            <a:pathLst>
              <a:path h="2581275" w="2409825">
                <a:moveTo>
                  <a:pt x="0" y="0"/>
                </a:moveTo>
                <a:lnTo>
                  <a:pt x="2409825" y="0"/>
                </a:lnTo>
                <a:lnTo>
                  <a:pt x="2409825" y="2581275"/>
                </a:lnTo>
                <a:lnTo>
                  <a:pt x="0" y="25812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0010775" y="5572125"/>
            <a:ext cx="1095375" cy="1285875"/>
          </a:xfrm>
          <a:custGeom>
            <a:avLst/>
            <a:gdLst/>
            <a:ahLst/>
            <a:cxnLst/>
            <a:rect r="r" b="b" t="t" l="l"/>
            <a:pathLst>
              <a:path h="1285875" w="1095375">
                <a:moveTo>
                  <a:pt x="0" y="0"/>
                </a:moveTo>
                <a:lnTo>
                  <a:pt x="1095375" y="0"/>
                </a:lnTo>
                <a:lnTo>
                  <a:pt x="109537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9966960" y="7112127"/>
            <a:ext cx="1207008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2"/>
              </a:lnSpc>
            </a:pPr>
            <a:r>
              <a:rPr lang="en-US" b="true" sz="2343" spc="-93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Approval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1534775" y="6210300"/>
            <a:ext cx="876300" cy="438150"/>
          </a:xfrm>
          <a:custGeom>
            <a:avLst/>
            <a:gdLst/>
            <a:ahLst/>
            <a:cxnLst/>
            <a:rect r="r" b="b" t="t" l="l"/>
            <a:pathLst>
              <a:path h="438150" w="876300">
                <a:moveTo>
                  <a:pt x="0" y="0"/>
                </a:moveTo>
                <a:lnTo>
                  <a:pt x="876300" y="0"/>
                </a:lnTo>
                <a:lnTo>
                  <a:pt x="87630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2192000" y="5353050"/>
            <a:ext cx="2400300" cy="2581275"/>
          </a:xfrm>
          <a:custGeom>
            <a:avLst/>
            <a:gdLst/>
            <a:ahLst/>
            <a:cxnLst/>
            <a:rect r="r" b="b" t="t" l="l"/>
            <a:pathLst>
              <a:path h="2581275" w="2400300">
                <a:moveTo>
                  <a:pt x="0" y="0"/>
                </a:moveTo>
                <a:lnTo>
                  <a:pt x="2400300" y="0"/>
                </a:lnTo>
                <a:lnTo>
                  <a:pt x="2400300" y="2581275"/>
                </a:lnTo>
                <a:lnTo>
                  <a:pt x="0" y="258127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2839700" y="5572125"/>
            <a:ext cx="1095375" cy="1285875"/>
          </a:xfrm>
          <a:custGeom>
            <a:avLst/>
            <a:gdLst/>
            <a:ahLst/>
            <a:cxnLst/>
            <a:rect r="r" b="b" t="t" l="l"/>
            <a:pathLst>
              <a:path h="1285875" w="1095375">
                <a:moveTo>
                  <a:pt x="0" y="0"/>
                </a:moveTo>
                <a:lnTo>
                  <a:pt x="1095375" y="0"/>
                </a:lnTo>
                <a:lnTo>
                  <a:pt x="109537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2801600" y="6977063"/>
            <a:ext cx="1207008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6"/>
              </a:lnSpc>
            </a:pPr>
            <a:r>
              <a:rPr lang="en-US" b="true" sz="2371" spc="-94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Financial Aid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4363700" y="6210300"/>
            <a:ext cx="876300" cy="438150"/>
          </a:xfrm>
          <a:custGeom>
            <a:avLst/>
            <a:gdLst/>
            <a:ahLst/>
            <a:cxnLst/>
            <a:rect r="r" b="b" t="t" l="l"/>
            <a:pathLst>
              <a:path h="438150" w="876300">
                <a:moveTo>
                  <a:pt x="0" y="0"/>
                </a:moveTo>
                <a:lnTo>
                  <a:pt x="876300" y="0"/>
                </a:lnTo>
                <a:lnTo>
                  <a:pt x="87630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5020925" y="5353050"/>
            <a:ext cx="2400300" cy="2581275"/>
          </a:xfrm>
          <a:custGeom>
            <a:avLst/>
            <a:gdLst/>
            <a:ahLst/>
            <a:cxnLst/>
            <a:rect r="r" b="b" t="t" l="l"/>
            <a:pathLst>
              <a:path h="2581275" w="2400300">
                <a:moveTo>
                  <a:pt x="0" y="0"/>
                </a:moveTo>
                <a:lnTo>
                  <a:pt x="2400300" y="0"/>
                </a:lnTo>
                <a:lnTo>
                  <a:pt x="2400300" y="2581275"/>
                </a:lnTo>
                <a:lnTo>
                  <a:pt x="0" y="258127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5668625" y="5572125"/>
            <a:ext cx="1314450" cy="1285875"/>
          </a:xfrm>
          <a:custGeom>
            <a:avLst/>
            <a:gdLst/>
            <a:ahLst/>
            <a:cxnLst/>
            <a:rect r="r" b="b" t="t" l="l"/>
            <a:pathLst>
              <a:path h="1285875" w="1314450">
                <a:moveTo>
                  <a:pt x="0" y="0"/>
                </a:moveTo>
                <a:lnTo>
                  <a:pt x="1314450" y="0"/>
                </a:lnTo>
                <a:lnTo>
                  <a:pt x="13144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5764256" y="7112127"/>
            <a:ext cx="1078992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2"/>
              </a:lnSpc>
            </a:pPr>
            <a:r>
              <a:rPr lang="en-US" b="true" sz="2343" spc="-93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Reports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4781550" y="8353425"/>
            <a:ext cx="228600" cy="1504950"/>
          </a:xfrm>
          <a:custGeom>
            <a:avLst/>
            <a:gdLst/>
            <a:ahLst/>
            <a:cxnLst/>
            <a:rect r="r" b="b" t="t" l="l"/>
            <a:pathLst>
              <a:path h="1504950" w="228600">
                <a:moveTo>
                  <a:pt x="0" y="0"/>
                </a:moveTo>
                <a:lnTo>
                  <a:pt x="228600" y="0"/>
                </a:lnTo>
                <a:lnTo>
                  <a:pt x="2286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097280" y="8667393"/>
            <a:ext cx="3291840" cy="825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0"/>
              </a:lnSpc>
            </a:pPr>
            <a:r>
              <a:rPr lang="en-US" b="true" sz="2371" spc="-94">
                <a:solidFill>
                  <a:srgbClr val="37C9F4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Centralize </a:t>
            </a:r>
            <a:r>
              <a:rPr lang="en-US" b="true" sz="2371" spc="-94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student and scholarship information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285232" y="8667393"/>
            <a:ext cx="3291840" cy="825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0"/>
              </a:lnSpc>
            </a:pPr>
            <a:r>
              <a:rPr lang="en-US" b="true" sz="2371" spc="-94">
                <a:solidFill>
                  <a:srgbClr val="37C9F4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Automate </a:t>
            </a:r>
            <a:r>
              <a:rPr lang="en-US" b="true" sz="2371" spc="-94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eligibility and application tracking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8924925" y="8353425"/>
            <a:ext cx="219075" cy="1504950"/>
          </a:xfrm>
          <a:custGeom>
            <a:avLst/>
            <a:gdLst/>
            <a:ahLst/>
            <a:cxnLst/>
            <a:rect r="r" b="b" t="t" l="l"/>
            <a:pathLst>
              <a:path h="1504950" w="219075">
                <a:moveTo>
                  <a:pt x="0" y="0"/>
                </a:moveTo>
                <a:lnTo>
                  <a:pt x="219075" y="0"/>
                </a:lnTo>
                <a:lnTo>
                  <a:pt x="2190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9436608" y="8667393"/>
            <a:ext cx="3694176" cy="825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0"/>
              </a:lnSpc>
            </a:pPr>
            <a:r>
              <a:rPr lang="en-US" b="true" sz="2371" spc="-94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Maintain </a:t>
            </a:r>
            <a:r>
              <a:rPr lang="en-US" b="true" sz="2371" spc="-94">
                <a:solidFill>
                  <a:srgbClr val="37C9F4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accurate </a:t>
            </a:r>
            <a:r>
              <a:rPr lang="en-US" b="true" sz="2371" spc="-94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financial records and </a:t>
            </a:r>
            <a:r>
              <a:rPr lang="en-US" b="true" sz="2371" spc="-94">
                <a:solidFill>
                  <a:srgbClr val="37C9F4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transparency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13496925" y="8353425"/>
            <a:ext cx="219075" cy="1504950"/>
          </a:xfrm>
          <a:custGeom>
            <a:avLst/>
            <a:gdLst/>
            <a:ahLst/>
            <a:cxnLst/>
            <a:rect r="r" b="b" t="t" l="l"/>
            <a:pathLst>
              <a:path h="1504950" w="219075">
                <a:moveTo>
                  <a:pt x="0" y="0"/>
                </a:moveTo>
                <a:lnTo>
                  <a:pt x="219075" y="0"/>
                </a:lnTo>
                <a:lnTo>
                  <a:pt x="2190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14209776" y="8667393"/>
            <a:ext cx="2871216" cy="825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0"/>
              </a:lnSpc>
            </a:pPr>
            <a:r>
              <a:rPr lang="en-US" b="true" sz="2371" spc="-94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Generate reports for </a:t>
            </a:r>
            <a:r>
              <a:rPr lang="en-US" b="true" sz="2371" spc="-94">
                <a:solidFill>
                  <a:srgbClr val="37C9F4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informed </a:t>
            </a:r>
            <a:r>
              <a:rPr lang="en-US" b="true" sz="2371" spc="-94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decisions</a:t>
            </a:r>
          </a:p>
        </p:txBody>
      </p:sp>
    </p:spTree>
  </p:cSld>
  <p:clrMapOvr>
    <a:masterClrMapping/>
  </p:clrMapOvr>
  <p:transition spd="med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03504" y="898446"/>
            <a:ext cx="11814048" cy="776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1"/>
              </a:lnSpc>
            </a:pPr>
            <a:r>
              <a:rPr lang="en-US" sz="5831" spc="-291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Database Design &amp; Implementation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28625" y="1714500"/>
            <a:ext cx="1095375" cy="428625"/>
          </a:xfrm>
          <a:custGeom>
            <a:avLst/>
            <a:gdLst/>
            <a:ahLst/>
            <a:cxnLst/>
            <a:rect r="r" b="b" t="t" l="l"/>
            <a:pathLst>
              <a:path h="428625" w="1095375">
                <a:moveTo>
                  <a:pt x="0" y="0"/>
                </a:moveTo>
                <a:lnTo>
                  <a:pt x="1095375" y="0"/>
                </a:lnTo>
                <a:lnTo>
                  <a:pt x="10953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21792" y="2312544"/>
            <a:ext cx="10314432" cy="396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9"/>
              </a:lnSpc>
            </a:pPr>
            <a:r>
              <a:rPr lang="en-US" sz="2530" spc="-126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Structured data relationships power </a:t>
            </a:r>
            <a:r>
              <a:rPr lang="en-US" sz="2530" spc="-126" b="true">
                <a:solidFill>
                  <a:srgbClr val="00C9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reliable scholarship management.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28625" y="3429000"/>
            <a:ext cx="2619375" cy="1076325"/>
          </a:xfrm>
          <a:custGeom>
            <a:avLst/>
            <a:gdLst/>
            <a:ahLst/>
            <a:cxnLst/>
            <a:rect r="r" b="b" t="t" l="l"/>
            <a:pathLst>
              <a:path h="1076325" w="2619375">
                <a:moveTo>
                  <a:pt x="0" y="0"/>
                </a:moveTo>
                <a:lnTo>
                  <a:pt x="2619375" y="0"/>
                </a:lnTo>
                <a:lnTo>
                  <a:pt x="2619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828925" y="3857625"/>
            <a:ext cx="1962150" cy="219075"/>
          </a:xfrm>
          <a:custGeom>
            <a:avLst/>
            <a:gdLst/>
            <a:ahLst/>
            <a:cxnLst/>
            <a:rect r="r" b="b" t="t" l="l"/>
            <a:pathLst>
              <a:path h="219075" w="1962150">
                <a:moveTo>
                  <a:pt x="0" y="0"/>
                </a:moveTo>
                <a:lnTo>
                  <a:pt x="1962150" y="0"/>
                </a:lnTo>
                <a:lnTo>
                  <a:pt x="19621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572000" y="3429000"/>
            <a:ext cx="2400300" cy="1076325"/>
          </a:xfrm>
          <a:custGeom>
            <a:avLst/>
            <a:gdLst/>
            <a:ahLst/>
            <a:cxnLst/>
            <a:rect r="r" b="b" t="t" l="l"/>
            <a:pathLst>
              <a:path h="1076325" w="2400300">
                <a:moveTo>
                  <a:pt x="0" y="0"/>
                </a:moveTo>
                <a:lnTo>
                  <a:pt x="2400300" y="0"/>
                </a:lnTo>
                <a:lnTo>
                  <a:pt x="24003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743700" y="3857625"/>
            <a:ext cx="1971675" cy="219075"/>
          </a:xfrm>
          <a:custGeom>
            <a:avLst/>
            <a:gdLst/>
            <a:ahLst/>
            <a:cxnLst/>
            <a:rect r="r" b="b" t="t" l="l"/>
            <a:pathLst>
              <a:path h="219075" w="1971675">
                <a:moveTo>
                  <a:pt x="0" y="0"/>
                </a:moveTo>
                <a:lnTo>
                  <a:pt x="1971675" y="0"/>
                </a:lnTo>
                <a:lnTo>
                  <a:pt x="19716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486775" y="3429000"/>
            <a:ext cx="2400300" cy="1076325"/>
          </a:xfrm>
          <a:custGeom>
            <a:avLst/>
            <a:gdLst/>
            <a:ahLst/>
            <a:cxnLst/>
            <a:rect r="r" b="b" t="t" l="l"/>
            <a:pathLst>
              <a:path h="1076325" w="2400300">
                <a:moveTo>
                  <a:pt x="0" y="0"/>
                </a:moveTo>
                <a:lnTo>
                  <a:pt x="2400300" y="0"/>
                </a:lnTo>
                <a:lnTo>
                  <a:pt x="24003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657850" y="4286250"/>
            <a:ext cx="228600" cy="1714500"/>
          </a:xfrm>
          <a:custGeom>
            <a:avLst/>
            <a:gdLst/>
            <a:ahLst/>
            <a:cxnLst/>
            <a:rect r="r" b="b" t="t" l="l"/>
            <a:pathLst>
              <a:path h="1714500" w="228600">
                <a:moveTo>
                  <a:pt x="0" y="0"/>
                </a:moveTo>
                <a:lnTo>
                  <a:pt x="228600" y="0"/>
                </a:lnTo>
                <a:lnTo>
                  <a:pt x="22860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28625" y="5781675"/>
            <a:ext cx="2619375" cy="1076325"/>
          </a:xfrm>
          <a:custGeom>
            <a:avLst/>
            <a:gdLst/>
            <a:ahLst/>
            <a:cxnLst/>
            <a:rect r="r" b="b" t="t" l="l"/>
            <a:pathLst>
              <a:path h="1076325" w="2619375">
                <a:moveTo>
                  <a:pt x="0" y="0"/>
                </a:moveTo>
                <a:lnTo>
                  <a:pt x="2619375" y="0"/>
                </a:lnTo>
                <a:lnTo>
                  <a:pt x="2619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32688" y="6063496"/>
            <a:ext cx="1664208" cy="352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0"/>
              </a:lnSpc>
            </a:pPr>
            <a:r>
              <a:rPr lang="en-US" sz="2231" spc="-11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Administrator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2828925" y="6210300"/>
            <a:ext cx="1962150" cy="219075"/>
          </a:xfrm>
          <a:custGeom>
            <a:avLst/>
            <a:gdLst/>
            <a:ahLst/>
            <a:cxnLst/>
            <a:rect r="r" b="b" t="t" l="l"/>
            <a:pathLst>
              <a:path h="219075" w="1962150">
                <a:moveTo>
                  <a:pt x="0" y="0"/>
                </a:moveTo>
                <a:lnTo>
                  <a:pt x="1962150" y="0"/>
                </a:lnTo>
                <a:lnTo>
                  <a:pt x="19621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4572000" y="5781675"/>
            <a:ext cx="2400300" cy="1076325"/>
          </a:xfrm>
          <a:custGeom>
            <a:avLst/>
            <a:gdLst/>
            <a:ahLst/>
            <a:cxnLst/>
            <a:rect r="r" b="b" t="t" l="l"/>
            <a:pathLst>
              <a:path h="1076325" w="2400300">
                <a:moveTo>
                  <a:pt x="0" y="0"/>
                </a:moveTo>
                <a:lnTo>
                  <a:pt x="2400300" y="0"/>
                </a:lnTo>
                <a:lnTo>
                  <a:pt x="24003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974336" y="6072842"/>
            <a:ext cx="1444752" cy="34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4"/>
              </a:lnSpc>
            </a:pPr>
            <a:r>
              <a:rPr lang="en-US" sz="2203" spc="-11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Scholarship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6743700" y="6210300"/>
            <a:ext cx="1971675" cy="219075"/>
          </a:xfrm>
          <a:custGeom>
            <a:avLst/>
            <a:gdLst/>
            <a:ahLst/>
            <a:cxnLst/>
            <a:rect r="r" b="b" t="t" l="l"/>
            <a:pathLst>
              <a:path h="219075" w="1971675">
                <a:moveTo>
                  <a:pt x="0" y="0"/>
                </a:moveTo>
                <a:lnTo>
                  <a:pt x="1971675" y="0"/>
                </a:lnTo>
                <a:lnTo>
                  <a:pt x="19716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8486775" y="5781675"/>
            <a:ext cx="2400300" cy="1076325"/>
          </a:xfrm>
          <a:custGeom>
            <a:avLst/>
            <a:gdLst/>
            <a:ahLst/>
            <a:cxnLst/>
            <a:rect r="r" b="b" t="t" l="l"/>
            <a:pathLst>
              <a:path h="1076325" w="2400300">
                <a:moveTo>
                  <a:pt x="0" y="0"/>
                </a:moveTo>
                <a:lnTo>
                  <a:pt x="2400300" y="0"/>
                </a:lnTo>
                <a:lnTo>
                  <a:pt x="24003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8887968" y="6072842"/>
            <a:ext cx="1536192" cy="34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4"/>
              </a:lnSpc>
            </a:pPr>
            <a:r>
              <a:rPr lang="en-US" sz="2203" spc="-11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Financial Aid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5657850" y="6638925"/>
            <a:ext cx="228600" cy="1504950"/>
          </a:xfrm>
          <a:custGeom>
            <a:avLst/>
            <a:gdLst/>
            <a:ahLst/>
            <a:cxnLst/>
            <a:rect r="r" b="b" t="t" l="l"/>
            <a:pathLst>
              <a:path h="1504950" w="228600">
                <a:moveTo>
                  <a:pt x="0" y="0"/>
                </a:moveTo>
                <a:lnTo>
                  <a:pt x="228600" y="0"/>
                </a:lnTo>
                <a:lnTo>
                  <a:pt x="2286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4572000" y="7924800"/>
            <a:ext cx="2400300" cy="1295400"/>
          </a:xfrm>
          <a:custGeom>
            <a:avLst/>
            <a:gdLst/>
            <a:ahLst/>
            <a:cxnLst/>
            <a:rect r="r" b="b" t="t" l="l"/>
            <a:pathLst>
              <a:path h="1295400" w="2400300">
                <a:moveTo>
                  <a:pt x="0" y="0"/>
                </a:moveTo>
                <a:lnTo>
                  <a:pt x="2400300" y="0"/>
                </a:lnTo>
                <a:lnTo>
                  <a:pt x="24003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5175504" y="8402110"/>
            <a:ext cx="1060704" cy="334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0"/>
              </a:lnSpc>
            </a:pPr>
            <a:r>
              <a:rPr lang="en-US" sz="2146" spc="-10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Payment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033504" y="3059430"/>
            <a:ext cx="4937760" cy="150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5"/>
              </a:lnSpc>
            </a:pPr>
            <a:r>
              <a:rPr lang="en-US" sz="2175" spc="-4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Well-defined </a:t>
            </a:r>
            <a:r>
              <a:rPr lang="en-US" sz="2175" spc="-43" b="true">
                <a:solidFill>
                  <a:srgbClr val="00C9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entities and relationships</a:t>
            </a:r>
            <a:r>
              <a:rPr lang="en-US" sz="2175" spc="-4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enable efficient storage, retrieval, updating, and tracking of scholarship and financial aid data.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1972925" y="4924425"/>
            <a:ext cx="5010150" cy="219075"/>
          </a:xfrm>
          <a:custGeom>
            <a:avLst/>
            <a:gdLst/>
            <a:ahLst/>
            <a:cxnLst/>
            <a:rect r="r" b="b" t="t" l="l"/>
            <a:pathLst>
              <a:path h="219075" w="5010150">
                <a:moveTo>
                  <a:pt x="0" y="0"/>
                </a:moveTo>
                <a:lnTo>
                  <a:pt x="5010150" y="0"/>
                </a:lnTo>
                <a:lnTo>
                  <a:pt x="50101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2033504" y="5279160"/>
            <a:ext cx="4937760" cy="1244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0"/>
              </a:lnSpc>
            </a:pPr>
            <a:r>
              <a:rPr lang="en-US" sz="2371" spc="-47" b="true">
                <a:solidFill>
                  <a:srgbClr val="00C9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Secure, structured, </a:t>
            </a:r>
            <a:r>
              <a:rPr lang="en-US" sz="2371" spc="-4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and </a:t>
            </a:r>
            <a:r>
              <a:rPr lang="en-US" sz="2371" spc="-47" b="true">
                <a:solidFill>
                  <a:srgbClr val="00C9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maintainable</a:t>
            </a:r>
            <a:r>
              <a:rPr lang="en-US" sz="2371" spc="-4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implementation for long-term reliability and scalability.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1972925" y="6638925"/>
            <a:ext cx="5010150" cy="219075"/>
          </a:xfrm>
          <a:custGeom>
            <a:avLst/>
            <a:gdLst/>
            <a:ahLst/>
            <a:cxnLst/>
            <a:rect r="r" b="b" t="t" l="l"/>
            <a:pathLst>
              <a:path h="219075" w="5010150">
                <a:moveTo>
                  <a:pt x="0" y="0"/>
                </a:moveTo>
                <a:lnTo>
                  <a:pt x="5010150" y="0"/>
                </a:lnTo>
                <a:lnTo>
                  <a:pt x="50101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2033504" y="7266207"/>
            <a:ext cx="2487168" cy="281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1"/>
              </a:lnSpc>
            </a:pPr>
            <a:r>
              <a:rPr lang="en-US" b="true" sz="1824" spc="-36">
                <a:solidFill>
                  <a:srgbClr val="00C9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TECHNOLOGY STACK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1972925" y="7496175"/>
            <a:ext cx="5448300" cy="1933575"/>
          </a:xfrm>
          <a:custGeom>
            <a:avLst/>
            <a:gdLst/>
            <a:ahLst/>
            <a:cxnLst/>
            <a:rect r="r" b="b" t="t" l="l"/>
            <a:pathLst>
              <a:path h="1933575" w="5448300">
                <a:moveTo>
                  <a:pt x="0" y="0"/>
                </a:moveTo>
                <a:lnTo>
                  <a:pt x="5448300" y="0"/>
                </a:lnTo>
                <a:lnTo>
                  <a:pt x="544830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2271248" y="7901154"/>
            <a:ext cx="4352544" cy="1298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4"/>
              </a:lnSpc>
            </a:pPr>
            <a:r>
              <a:rPr lang="en-US" sz="2503" spc="-5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MySQL / PostgreSQL</a:t>
            </a:r>
          </a:p>
          <a:p>
            <a:pPr algn="l">
              <a:lnSpc>
                <a:spcPts val="3504"/>
              </a:lnSpc>
            </a:pPr>
            <a:r>
              <a:rPr lang="en-US" sz="2503" spc="-5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SQL</a:t>
            </a:r>
          </a:p>
          <a:p>
            <a:pPr algn="l">
              <a:lnSpc>
                <a:spcPts val="3504"/>
              </a:lnSpc>
            </a:pPr>
            <a:r>
              <a:rPr lang="en-US" sz="2503" spc="-5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HTML/CSS, Python/Java/PHP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80160" y="3793534"/>
            <a:ext cx="950976" cy="334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0"/>
              </a:lnSpc>
            </a:pPr>
            <a:r>
              <a:rPr lang="en-US" sz="2146" spc="-10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Student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010912" y="3779782"/>
            <a:ext cx="1389888" cy="352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0"/>
              </a:lnSpc>
            </a:pPr>
            <a:r>
              <a:rPr lang="en-US" sz="2231" spc="-11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Application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125712" y="3789128"/>
            <a:ext cx="1042416" cy="34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4"/>
              </a:lnSpc>
            </a:pPr>
            <a:r>
              <a:rPr lang="en-US" sz="2203" spc="-11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Eligibility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035808" y="3571067"/>
            <a:ext cx="91440" cy="317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3"/>
              </a:lnSpc>
            </a:pPr>
            <a:r>
              <a:rPr lang="en-US" sz="2002" spc="-100">
                <a:solidFill>
                  <a:srgbClr val="00C9FF"/>
                </a:solidFill>
                <a:latin typeface="Open Sauce"/>
                <a:ea typeface="Open Sauce"/>
                <a:cs typeface="Open Sauce"/>
                <a:sym typeface="Open Sauce"/>
              </a:rPr>
              <a:t>1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096512" y="3570926"/>
            <a:ext cx="329184" cy="31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4"/>
              </a:lnSpc>
            </a:pPr>
            <a:r>
              <a:rPr lang="en-US" sz="1980" spc="-99">
                <a:solidFill>
                  <a:srgbClr val="00C9FF"/>
                </a:solidFill>
                <a:latin typeface="Open Sauce"/>
                <a:ea typeface="Open Sauce"/>
                <a:cs typeface="Open Sauce"/>
                <a:sym typeface="Open Sauce"/>
              </a:rPr>
              <a:t>1.**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949440" y="3571067"/>
            <a:ext cx="91440" cy="317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3"/>
              </a:lnSpc>
            </a:pPr>
            <a:r>
              <a:rPr lang="en-US" sz="2002" spc="-100">
                <a:solidFill>
                  <a:srgbClr val="00C9FF"/>
                </a:solidFill>
                <a:latin typeface="Open Sauce"/>
                <a:ea typeface="Open Sauce"/>
                <a:cs typeface="Open Sauce"/>
                <a:sym typeface="Open Sauce"/>
              </a:rPr>
              <a:t>1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046720" y="3571067"/>
            <a:ext cx="329184" cy="317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3"/>
              </a:lnSpc>
            </a:pPr>
            <a:r>
              <a:rPr lang="en-US" sz="2002" spc="-100">
                <a:solidFill>
                  <a:srgbClr val="00C9FF"/>
                </a:solidFill>
                <a:latin typeface="Open Sauce"/>
                <a:ea typeface="Open Sauce"/>
                <a:cs typeface="Open Sauce"/>
                <a:sym typeface="Open Sauce"/>
              </a:rPr>
              <a:t>1.1.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833872" y="4507043"/>
            <a:ext cx="329184" cy="31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4"/>
              </a:lnSpc>
            </a:pPr>
            <a:r>
              <a:rPr lang="en-US" sz="1980" spc="-99">
                <a:solidFill>
                  <a:srgbClr val="00C9FF"/>
                </a:solidFill>
                <a:latin typeface="Open Sauce"/>
                <a:ea typeface="Open Sauce"/>
                <a:cs typeface="Open Sauce"/>
                <a:sym typeface="Open Sauce"/>
              </a:rPr>
              <a:t>1.**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833872" y="5381438"/>
            <a:ext cx="329184" cy="31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4"/>
              </a:lnSpc>
            </a:pPr>
            <a:r>
              <a:rPr lang="en-US" sz="1980" spc="-99">
                <a:solidFill>
                  <a:srgbClr val="00C9FF"/>
                </a:solidFill>
                <a:latin typeface="Open Sauce"/>
                <a:ea typeface="Open Sauce"/>
                <a:cs typeface="Open Sauce"/>
                <a:sym typeface="Open Sauce"/>
              </a:rPr>
              <a:t>1.**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833872" y="6842333"/>
            <a:ext cx="91440" cy="317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3"/>
              </a:lnSpc>
            </a:pPr>
            <a:r>
              <a:rPr lang="en-US" sz="2002" spc="-100">
                <a:solidFill>
                  <a:srgbClr val="00C9FF"/>
                </a:solidFill>
                <a:latin typeface="Open Sauce"/>
                <a:ea typeface="Open Sauce"/>
                <a:cs typeface="Open Sauce"/>
                <a:sym typeface="Open Sauce"/>
              </a:rPr>
              <a:t>1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833872" y="7716587"/>
            <a:ext cx="329184" cy="31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4"/>
              </a:lnSpc>
            </a:pPr>
            <a:r>
              <a:rPr lang="en-US" sz="1980" spc="-99">
                <a:solidFill>
                  <a:srgbClr val="00C9FF"/>
                </a:solidFill>
                <a:latin typeface="Open Sauce"/>
                <a:ea typeface="Open Sauce"/>
                <a:cs typeface="Open Sauce"/>
                <a:sym typeface="Open Sauce"/>
              </a:rPr>
              <a:t>1.**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035808" y="5906216"/>
            <a:ext cx="91440" cy="317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3"/>
              </a:lnSpc>
            </a:pPr>
            <a:r>
              <a:rPr lang="en-US" sz="2002" spc="-100">
                <a:solidFill>
                  <a:srgbClr val="00C9FF"/>
                </a:solidFill>
                <a:latin typeface="Open Sauce"/>
                <a:ea typeface="Open Sauce"/>
                <a:cs typeface="Open Sauce"/>
                <a:sym typeface="Open Sauce"/>
              </a:rPr>
              <a:t>1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096512" y="5906075"/>
            <a:ext cx="329184" cy="31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4"/>
              </a:lnSpc>
            </a:pPr>
            <a:r>
              <a:rPr lang="en-US" sz="1980" spc="-99">
                <a:solidFill>
                  <a:srgbClr val="00C9FF"/>
                </a:solidFill>
                <a:latin typeface="Open Sauce"/>
                <a:ea typeface="Open Sauce"/>
                <a:cs typeface="Open Sauce"/>
                <a:sym typeface="Open Sauce"/>
              </a:rPr>
              <a:t>1.**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912864" y="5906216"/>
            <a:ext cx="91440" cy="317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3"/>
              </a:lnSpc>
            </a:pPr>
            <a:r>
              <a:rPr lang="en-US" sz="2002" spc="-100">
                <a:solidFill>
                  <a:srgbClr val="00C9FF"/>
                </a:solidFill>
                <a:latin typeface="Open Sauce"/>
                <a:ea typeface="Open Sauce"/>
                <a:cs typeface="Open Sauce"/>
                <a:sym typeface="Open Sauce"/>
              </a:rPr>
              <a:t>1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8046720" y="5906216"/>
            <a:ext cx="329184" cy="317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3"/>
              </a:lnSpc>
            </a:pPr>
            <a:r>
              <a:rPr lang="en-US" sz="2002" spc="-100">
                <a:solidFill>
                  <a:srgbClr val="00C9FF"/>
                </a:solidFill>
                <a:latin typeface="Open Sauce"/>
                <a:ea typeface="Open Sauce"/>
                <a:cs typeface="Open Sauce"/>
                <a:sym typeface="Open Sauce"/>
              </a:rPr>
              <a:t>1.1.</a:t>
            </a:r>
          </a:p>
        </p:txBody>
      </p:sp>
    </p:spTree>
  </p:cSld>
  <p:clrMapOvr>
    <a:masterClrMapping/>
  </p:clrMapOvr>
  <p:transition spd="med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8625" y="2781300"/>
            <a:ext cx="1095375" cy="438150"/>
          </a:xfrm>
          <a:custGeom>
            <a:avLst/>
            <a:gdLst/>
            <a:ahLst/>
            <a:cxnLst/>
            <a:rect r="r" b="b" t="t" l="l"/>
            <a:pathLst>
              <a:path h="438150" w="1095375">
                <a:moveTo>
                  <a:pt x="0" y="0"/>
                </a:moveTo>
                <a:lnTo>
                  <a:pt x="1095375" y="0"/>
                </a:lnTo>
                <a:lnTo>
                  <a:pt x="10953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21792" y="3796397"/>
            <a:ext cx="1938528" cy="272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1"/>
              </a:lnSpc>
            </a:pPr>
            <a:r>
              <a:rPr lang="en-US" sz="2121" b="true">
                <a:solidFill>
                  <a:srgbClr val="38B6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KEY BENEFITS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28625" y="4067175"/>
            <a:ext cx="4362450" cy="219075"/>
          </a:xfrm>
          <a:custGeom>
            <a:avLst/>
            <a:gdLst/>
            <a:ahLst/>
            <a:cxnLst/>
            <a:rect r="r" b="b" t="t" l="l"/>
            <a:pathLst>
              <a:path h="219075" w="4362450">
                <a:moveTo>
                  <a:pt x="0" y="0"/>
                </a:moveTo>
                <a:lnTo>
                  <a:pt x="4362450" y="0"/>
                </a:lnTo>
                <a:lnTo>
                  <a:pt x="4362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833872" y="3796397"/>
            <a:ext cx="2121408" cy="272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1"/>
              </a:lnSpc>
            </a:pPr>
            <a:r>
              <a:rPr lang="en-US" sz="2121" b="true">
                <a:solidFill>
                  <a:srgbClr val="38B6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FUTURE SCOPE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5657850" y="4067175"/>
            <a:ext cx="4362450" cy="219075"/>
          </a:xfrm>
          <a:custGeom>
            <a:avLst/>
            <a:gdLst/>
            <a:ahLst/>
            <a:cxnLst/>
            <a:rect r="r" b="b" t="t" l="l"/>
            <a:pathLst>
              <a:path h="219075" w="4362450">
                <a:moveTo>
                  <a:pt x="0" y="0"/>
                </a:moveTo>
                <a:lnTo>
                  <a:pt x="4362450" y="0"/>
                </a:lnTo>
                <a:lnTo>
                  <a:pt x="4362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449550" y="1924050"/>
            <a:ext cx="1104900" cy="866775"/>
          </a:xfrm>
          <a:custGeom>
            <a:avLst/>
            <a:gdLst/>
            <a:ahLst/>
            <a:cxnLst/>
            <a:rect r="r" b="b" t="t" l="l"/>
            <a:pathLst>
              <a:path h="866775" w="1104900">
                <a:moveTo>
                  <a:pt x="0" y="0"/>
                </a:moveTo>
                <a:lnTo>
                  <a:pt x="1104900" y="0"/>
                </a:lnTo>
                <a:lnTo>
                  <a:pt x="11049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620625" y="6000750"/>
            <a:ext cx="447675" cy="647700"/>
          </a:xfrm>
          <a:custGeom>
            <a:avLst/>
            <a:gdLst/>
            <a:ahLst/>
            <a:cxnLst/>
            <a:rect r="r" b="b" t="t" l="l"/>
            <a:pathLst>
              <a:path h="647700" w="447675">
                <a:moveTo>
                  <a:pt x="0" y="0"/>
                </a:moveTo>
                <a:lnTo>
                  <a:pt x="447675" y="0"/>
                </a:lnTo>
                <a:lnTo>
                  <a:pt x="4476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075920" y="6231684"/>
            <a:ext cx="4315968" cy="2346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5"/>
              </a:lnSpc>
            </a:pPr>
            <a:r>
              <a:rPr lang="en-US" sz="23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 well-designed DBMS provides a secure, efficient, and transparent foundation for managing scholarships and financial aid.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6436965" y="8147091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21792" y="767935"/>
            <a:ext cx="9491472" cy="942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22"/>
              </a:lnSpc>
            </a:pPr>
            <a:r>
              <a:rPr lang="en-US" sz="7122" spc="-284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Benefits, Conclusion &amp;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21792" y="1762435"/>
            <a:ext cx="5468112" cy="908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90"/>
              </a:lnSpc>
            </a:pPr>
            <a:r>
              <a:rPr lang="en-US" sz="6890" spc="-275" b="true">
                <a:solidFill>
                  <a:srgbClr val="38B6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Future Scope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21792" y="4487591"/>
            <a:ext cx="2194560" cy="259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6"/>
              </a:lnSpc>
            </a:pPr>
            <a:r>
              <a:rPr lang="en-US" sz="196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Faster processing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833872" y="4486936"/>
            <a:ext cx="2633472" cy="260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7"/>
              </a:lnSpc>
            </a:pPr>
            <a:r>
              <a:rPr lang="en-US" sz="201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Online student portal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21792" y="5032474"/>
            <a:ext cx="3822192" cy="260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2"/>
              </a:lnSpc>
            </a:pPr>
            <a:r>
              <a:rPr lang="en-US" sz="199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Reduced paperwork and errors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833872" y="5027057"/>
            <a:ext cx="2999232" cy="270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3"/>
              </a:lnSpc>
            </a:pPr>
            <a:r>
              <a:rPr lang="en-US" sz="204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Automated notifications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21792" y="5577358"/>
            <a:ext cx="2889504" cy="260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7"/>
              </a:lnSpc>
            </a:pPr>
            <a:r>
              <a:rPr lang="en-US" sz="201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Secure, organized data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833872" y="5577358"/>
            <a:ext cx="3456432" cy="260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7"/>
              </a:lnSpc>
            </a:pPr>
            <a:r>
              <a:rPr lang="en-US" sz="201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AI-based recommendations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21792" y="6112282"/>
            <a:ext cx="4626864" cy="260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7"/>
              </a:lnSpc>
            </a:pPr>
            <a:r>
              <a:rPr lang="en-US" sz="201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Better reporting and decision-making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833872" y="6107192"/>
            <a:ext cx="3675888" cy="270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3"/>
              </a:lnSpc>
            </a:pPr>
            <a:r>
              <a:rPr lang="en-US" sz="204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Payment gateway integration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21792" y="6657493"/>
            <a:ext cx="3657600" cy="260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7"/>
              </a:lnSpc>
            </a:pPr>
            <a:r>
              <a:rPr lang="en-US" sz="201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Improved student experience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833872" y="6657493"/>
            <a:ext cx="4535424" cy="260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7"/>
              </a:lnSpc>
            </a:pPr>
            <a:r>
              <a:rPr lang="en-US" sz="201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Advanced analytics and dashboards</a:t>
            </a:r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290920" y="4666618"/>
            <a:ext cx="5706161" cy="1106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99"/>
              </a:lnSpc>
            </a:pPr>
            <a:r>
              <a:rPr lang="en-US" b="true" sz="8299" spc="-33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Thank You</a:t>
            </a:r>
          </a:p>
        </p:txBody>
      </p:sp>
    </p:spTree>
  </p:cSld>
  <p:clrMapOvr>
    <a:masterClrMapping/>
  </p:clrMapOvr>
  <p:transition spd="med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DAHTqcPQuHc</dc:identifier>
  <dcterms:modified xsi:type="dcterms:W3CDTF">2011-08-01T06:04:30Z</dcterms:modified>
  <cp:revision>1</cp:revision>
  <dc:title>DBMS PPT 1</dc:title>
</cp:coreProperties>
</file>