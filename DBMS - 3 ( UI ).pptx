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swald Bold" charset="1" panose="00000800000000000000"/>
      <p:regular r:id="rId14"/>
    </p:embeddedFont>
    <p:embeddedFont>
      <p:font typeface="Cabin Semi-Bold" charset="1" panose="00000700000000000000"/>
      <p:regular r:id="rId15"/>
    </p:embeddedFont>
    <p:embeddedFont>
      <p:font typeface="Helvetica Now Bold" charset="1" panose="020B0804030202020204"/>
      <p:regular r:id="rId16"/>
    </p:embeddedFont>
    <p:embeddedFont>
      <p:font typeface="Helvetica Now" charset="1" panose="020B0504030202020204"/>
      <p:regular r:id="rId17"/>
    </p:embeddedFont>
    <p:embeddedFont>
      <p:font typeface="Cabin Bold" charset="1" panose="00000800000000000000"/>
      <p:regular r:id="rId18"/>
    </p:embeddedFont>
    <p:embeddedFont>
      <p:font typeface="Cabin Medium" charset="1" panose="00000600000000000000"/>
      <p:regular r:id="rId19"/>
    </p:embeddedFont>
    <p:embeddedFont>
      <p:font typeface="Oswald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15" Target="../media/image19.png" Type="http://schemas.openxmlformats.org/officeDocument/2006/relationships/image"/><Relationship Id="rId16" Target="../media/image20.pn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17" Target="../media/image44.png" Type="http://schemas.openxmlformats.org/officeDocument/2006/relationships/image"/><Relationship Id="rId18" Target="../media/image45.png" Type="http://schemas.openxmlformats.org/officeDocument/2006/relationships/image"/><Relationship Id="rId19" Target="../media/image46.png" Type="http://schemas.openxmlformats.org/officeDocument/2006/relationships/image"/><Relationship Id="rId2" Target="../media/image29.png" Type="http://schemas.openxmlformats.org/officeDocument/2006/relationships/image"/><Relationship Id="rId20" Target="../media/image47.png" Type="http://schemas.openxmlformats.org/officeDocument/2006/relationships/image"/><Relationship Id="rId21" Target="../media/image48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72.png" Type="http://schemas.openxmlformats.org/officeDocument/2006/relationships/image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93952" y="0"/>
            <a:ext cx="7415828" cy="10287000"/>
          </a:xfrm>
          <a:custGeom>
            <a:avLst/>
            <a:gdLst/>
            <a:ahLst/>
            <a:cxnLst/>
            <a:rect r="r" b="b" t="t" l="l"/>
            <a:pathLst>
              <a:path h="10287000" w="7415828">
                <a:moveTo>
                  <a:pt x="0" y="0"/>
                </a:moveTo>
                <a:lnTo>
                  <a:pt x="7415828" y="0"/>
                </a:lnTo>
                <a:lnTo>
                  <a:pt x="74158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47196" y="0"/>
            <a:ext cx="6540804" cy="6001661"/>
          </a:xfrm>
          <a:custGeom>
            <a:avLst/>
            <a:gdLst/>
            <a:ahLst/>
            <a:cxnLst/>
            <a:rect r="r" b="b" t="t" l="l"/>
            <a:pathLst>
              <a:path h="6001661" w="6540804">
                <a:moveTo>
                  <a:pt x="0" y="0"/>
                </a:moveTo>
                <a:lnTo>
                  <a:pt x="6540804" y="0"/>
                </a:lnTo>
                <a:lnTo>
                  <a:pt x="6540804" y="6001661"/>
                </a:lnTo>
                <a:lnTo>
                  <a:pt x="0" y="6001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01866" y="5564382"/>
            <a:ext cx="7186134" cy="4722618"/>
          </a:xfrm>
          <a:custGeom>
            <a:avLst/>
            <a:gdLst/>
            <a:ahLst/>
            <a:cxnLst/>
            <a:rect r="r" b="b" t="t" l="l"/>
            <a:pathLst>
              <a:path h="4722618" w="7186134">
                <a:moveTo>
                  <a:pt x="0" y="0"/>
                </a:moveTo>
                <a:lnTo>
                  <a:pt x="7186134" y="0"/>
                </a:lnTo>
                <a:lnTo>
                  <a:pt x="7186134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0414" y="2360457"/>
            <a:ext cx="8720295" cy="360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8231" spc="-164" b="true">
                <a:solidFill>
                  <a:srgbClr val="063D7F"/>
                </a:solidFill>
                <a:latin typeface="Oswald Bold"/>
                <a:ea typeface="Oswald Bold"/>
                <a:cs typeface="Oswald Bold"/>
                <a:sym typeface="Oswald Bold"/>
              </a:rPr>
              <a:t>Scholarship &amp; Financial Aid Management System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6428009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728" y="7060821"/>
            <a:ext cx="7488870" cy="45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3149" spc="-30" b="true">
                <a:solidFill>
                  <a:srgbClr val="144E8B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Database Management System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0414" y="7702175"/>
            <a:ext cx="7488870" cy="45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3149" spc="-30" b="true">
                <a:solidFill>
                  <a:srgbClr val="144E8B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SHAILESH CHARAN - 25WU0102252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01866" y="0"/>
            <a:ext cx="7186134" cy="10287000"/>
          </a:xfrm>
          <a:custGeom>
            <a:avLst/>
            <a:gdLst/>
            <a:ahLst/>
            <a:cxnLst/>
            <a:rect r="r" b="b" t="t" l="l"/>
            <a:pathLst>
              <a:path h="10287000" w="7186134">
                <a:moveTo>
                  <a:pt x="0" y="0"/>
                </a:moveTo>
                <a:lnTo>
                  <a:pt x="7186134" y="0"/>
                </a:lnTo>
                <a:lnTo>
                  <a:pt x="7186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11110" y="1279043"/>
            <a:ext cx="11550316" cy="7728915"/>
          </a:xfrm>
          <a:custGeom>
            <a:avLst/>
            <a:gdLst/>
            <a:ahLst/>
            <a:cxnLst/>
            <a:rect r="r" b="b" t="t" l="l"/>
            <a:pathLst>
              <a:path h="7728915" w="11550316">
                <a:moveTo>
                  <a:pt x="0" y="0"/>
                </a:moveTo>
                <a:lnTo>
                  <a:pt x="11550316" y="0"/>
                </a:lnTo>
                <a:lnTo>
                  <a:pt x="11550316" y="7728914"/>
                </a:lnTo>
                <a:lnTo>
                  <a:pt x="0" y="7728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9866" y="1497682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00440" y="1497682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7952" y="14976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94220" y="14976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6994" y="1644365"/>
            <a:ext cx="5273237" cy="185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6205" b="true">
                <a:solidFill>
                  <a:srgbClr val="0B4686"/>
                </a:solidFill>
                <a:latin typeface="Oswald Bold"/>
                <a:ea typeface="Oswald Bold"/>
                <a:cs typeface="Oswald Bold"/>
                <a:sym typeface="Oswald Bold"/>
              </a:rPr>
              <a:t>Main Dashboard Overview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3848060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1725" y="4483951"/>
            <a:ext cx="4479048" cy="899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sz="2505" b="true">
                <a:solidFill>
                  <a:srgbClr val="1863A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The central hub for managing students and applications.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213" y="6527059"/>
            <a:ext cx="3630231" cy="72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056" spc="-4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Straightforward navigation for</a:t>
            </a:r>
          </a:p>
          <a:p>
            <a:pPr algn="l">
              <a:lnSpc>
                <a:spcPts val="3084"/>
              </a:lnSpc>
            </a:pPr>
            <a:r>
              <a:rPr lang="en-US" sz="2056" spc="-4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everyday tasks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447" y="7556543"/>
            <a:ext cx="4306840" cy="37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spc="-4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Designed for clarity and efficiency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33889" y="2215245"/>
            <a:ext cx="9889144" cy="48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b="true" sz="2784">
                <a:solidFill>
                  <a:srgbClr val="171717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SCHOLARSHIP &amp; FINANCIAL AID MANAGEMENT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58373" y="3162956"/>
            <a:ext cx="3840176" cy="3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 spc="-88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Database Management System Project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664354" y="3640352"/>
            <a:ext cx="2625072" cy="437279"/>
          </a:xfrm>
          <a:custGeom>
            <a:avLst/>
            <a:gdLst/>
            <a:ahLst/>
            <a:cxnLst/>
            <a:rect r="r" b="b" t="t" l="l"/>
            <a:pathLst>
              <a:path h="437279" w="2625072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664354" y="4066699"/>
            <a:ext cx="2625072" cy="655919"/>
          </a:xfrm>
          <a:custGeom>
            <a:avLst/>
            <a:gdLst/>
            <a:ahLst/>
            <a:cxnLst/>
            <a:rect r="r" b="b" t="t" l="l"/>
            <a:pathLst>
              <a:path h="655919" w="2625072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64354" y="4711687"/>
            <a:ext cx="2625072" cy="655919"/>
          </a:xfrm>
          <a:custGeom>
            <a:avLst/>
            <a:gdLst/>
            <a:ahLst/>
            <a:cxnLst/>
            <a:rect r="r" b="b" t="t" l="l"/>
            <a:pathLst>
              <a:path h="655919" w="2625072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289725" y="4889389"/>
            <a:ext cx="1381759" cy="22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b="true" sz="1305" spc="-26">
                <a:solidFill>
                  <a:srgbClr val="605E5E"/>
                </a:solidFill>
                <a:latin typeface="Cabin Bold"/>
                <a:ea typeface="Cabin Bold"/>
                <a:cs typeface="Cabin Bold"/>
                <a:sym typeface="Cabin Bold"/>
              </a:rPr>
              <a:t>UPDATE STUDENT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664354" y="5356674"/>
            <a:ext cx="2625072" cy="437279"/>
          </a:xfrm>
          <a:custGeom>
            <a:avLst/>
            <a:gdLst/>
            <a:ahLst/>
            <a:cxnLst/>
            <a:rect r="r" b="b" t="t" l="l"/>
            <a:pathLst>
              <a:path h="437279" w="2625072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664354" y="5990729"/>
            <a:ext cx="2625072" cy="448211"/>
          </a:xfrm>
          <a:custGeom>
            <a:avLst/>
            <a:gdLst/>
            <a:ahLst/>
            <a:cxnLst/>
            <a:rect r="r" b="b" t="t" l="l"/>
            <a:pathLst>
              <a:path h="448211" w="2625072">
                <a:moveTo>
                  <a:pt x="0" y="0"/>
                </a:moveTo>
                <a:lnTo>
                  <a:pt x="2625072" y="0"/>
                </a:lnTo>
                <a:lnTo>
                  <a:pt x="262507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64354" y="6428009"/>
            <a:ext cx="2625072" cy="644987"/>
          </a:xfrm>
          <a:custGeom>
            <a:avLst/>
            <a:gdLst/>
            <a:ahLst/>
            <a:cxnLst/>
            <a:rect r="r" b="b" t="t" l="l"/>
            <a:pathLst>
              <a:path h="644987" w="2625072">
                <a:moveTo>
                  <a:pt x="0" y="0"/>
                </a:moveTo>
                <a:lnTo>
                  <a:pt x="2625072" y="0"/>
                </a:lnTo>
                <a:lnTo>
                  <a:pt x="262507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664354" y="7062064"/>
            <a:ext cx="2625072" cy="655919"/>
          </a:xfrm>
          <a:custGeom>
            <a:avLst/>
            <a:gdLst/>
            <a:ahLst/>
            <a:cxnLst/>
            <a:rect r="r" b="b" t="t" l="l"/>
            <a:pathLst>
              <a:path h="655919" w="2625072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149036" y="7253941"/>
            <a:ext cx="1663138" cy="22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b="true" sz="1305" spc="-26">
                <a:solidFill>
                  <a:srgbClr val="605E5E"/>
                </a:solidFill>
                <a:latin typeface="Cabin Bold"/>
                <a:ea typeface="Cabin Bold"/>
                <a:cs typeface="Cabin Bold"/>
                <a:sym typeface="Cabin Bold"/>
              </a:rPr>
              <a:t>UPDATE APPLICATION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6774" y="5869729"/>
            <a:ext cx="3974129" cy="37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spc="-4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All core operations in one place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49505" y="1545882"/>
            <a:ext cx="3528432" cy="22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 b="true">
                <a:solidFill>
                  <a:srgbClr val="444444"/>
                </a:solidFill>
                <a:latin typeface="Cabin Medium"/>
                <a:ea typeface="Cabin Medium"/>
                <a:cs typeface="Cabin Medium"/>
                <a:sym typeface="Cabin Medium"/>
              </a:rPr>
              <a:t>Scholarship &amp; Financial Aid Management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74795" y="6666568"/>
            <a:ext cx="1611619" cy="22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b="true" sz="1305" spc="-26">
                <a:solidFill>
                  <a:srgbClr val="605E5E"/>
                </a:solidFill>
                <a:latin typeface="Cabin Bold"/>
                <a:ea typeface="Cabin Bold"/>
                <a:cs typeface="Cabin Bold"/>
                <a:sym typeface="Cabin Bold"/>
              </a:rPr>
              <a:t>DELETE APPLICATION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12709" y="5491822"/>
            <a:ext cx="1535791" cy="22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b="true" sz="1305" spc="-26">
                <a:solidFill>
                  <a:srgbClr val="605E5E"/>
                </a:solidFill>
                <a:latin typeface="Cabin Bold"/>
                <a:ea typeface="Cabin Bold"/>
                <a:cs typeface="Cabin Bold"/>
                <a:sym typeface="Cabin Bold"/>
              </a:rPr>
              <a:t>VIEW APPLICATIONS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89813" y="6079195"/>
            <a:ext cx="1381584" cy="22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b="true" sz="1305" spc="-26">
                <a:solidFill>
                  <a:srgbClr val="605E5E"/>
                </a:solidFill>
                <a:latin typeface="Cabin Bold"/>
                <a:ea typeface="Cabin Bold"/>
                <a:cs typeface="Cabin Bold"/>
                <a:sym typeface="Cabin Bold"/>
              </a:rPr>
              <a:t>ADD APPLICATION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53399" y="3714643"/>
            <a:ext cx="1254412" cy="22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b="true" sz="1305" spc="-26">
                <a:solidFill>
                  <a:srgbClr val="605E5E"/>
                </a:solidFill>
                <a:latin typeface="Cabin Bold"/>
                <a:ea typeface="Cabin Bold"/>
                <a:cs typeface="Cabin Bold"/>
                <a:sym typeface="Cabin Bold"/>
              </a:rPr>
              <a:t>VIEW STUDENTS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502" y="4302016"/>
            <a:ext cx="1100205" cy="22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b="true" sz="1305" spc="-26">
                <a:solidFill>
                  <a:srgbClr val="605E5E"/>
                </a:solidFill>
                <a:latin typeface="Cabin Bold"/>
                <a:ea typeface="Cabin Bold"/>
                <a:cs typeface="Cabin Bold"/>
                <a:sym typeface="Cabin Bold"/>
              </a:rPr>
              <a:t>ADD STUDENT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65952" y="0"/>
            <a:ext cx="6322048" cy="10287000"/>
          </a:xfrm>
          <a:custGeom>
            <a:avLst/>
            <a:gdLst/>
            <a:ahLst/>
            <a:cxnLst/>
            <a:rect r="r" b="b" t="t" l="l"/>
            <a:pathLst>
              <a:path h="10287000" w="6322048">
                <a:moveTo>
                  <a:pt x="0" y="0"/>
                </a:moveTo>
                <a:lnTo>
                  <a:pt x="6322048" y="0"/>
                </a:lnTo>
                <a:lnTo>
                  <a:pt x="6322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36086" y="1497682"/>
            <a:ext cx="12425340" cy="7510275"/>
          </a:xfrm>
          <a:custGeom>
            <a:avLst/>
            <a:gdLst/>
            <a:ahLst/>
            <a:cxnLst/>
            <a:rect r="r" b="b" t="t" l="l"/>
            <a:pathLst>
              <a:path h="7510275" w="12425340">
                <a:moveTo>
                  <a:pt x="0" y="0"/>
                </a:moveTo>
                <a:lnTo>
                  <a:pt x="12425340" y="0"/>
                </a:lnTo>
                <a:lnTo>
                  <a:pt x="1242534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54842" y="170539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43610" y="1736009"/>
            <a:ext cx="1071783" cy="22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55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Student Records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00440" y="1705390"/>
            <a:ext cx="1542230" cy="229572"/>
          </a:xfrm>
          <a:custGeom>
            <a:avLst/>
            <a:gdLst/>
            <a:ahLst/>
            <a:cxnLst/>
            <a:rect r="r" b="b" t="t" l="l"/>
            <a:pathLst>
              <a:path h="229572" w="1542230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16347" y="2305792"/>
            <a:ext cx="2423063" cy="4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b="true" sz="2418" spc="-48">
                <a:solidFill>
                  <a:srgbClr val="1E1E1E"/>
                </a:solidFill>
                <a:latin typeface="Oswald Bold"/>
                <a:ea typeface="Oswald Bold"/>
                <a:cs typeface="Oswald Bold"/>
                <a:sym typeface="Oswald Bold"/>
              </a:rPr>
              <a:t>STUDENT RECORDS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54842" y="2995365"/>
            <a:ext cx="11987828" cy="5148966"/>
          </a:xfrm>
          <a:custGeom>
            <a:avLst/>
            <a:gdLst/>
            <a:ahLst/>
            <a:cxnLst/>
            <a:rect r="r" b="b" t="t" l="l"/>
            <a:pathLst>
              <a:path h="5148966" w="11987828">
                <a:moveTo>
                  <a:pt x="0" y="0"/>
                </a:moveTo>
                <a:lnTo>
                  <a:pt x="11987828" y="0"/>
                </a:lnTo>
                <a:lnTo>
                  <a:pt x="11987828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19062" y="3437937"/>
            <a:ext cx="132085" cy="19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7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8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10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84622" y="3437937"/>
            <a:ext cx="732363" cy="19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Aarav Sharma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Priya Reddy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Rahul Kumar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Sneha Rao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Vikram Singh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Ananya Patei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Karthi Reddy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Megha Nair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Rahul Sharma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shalesh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51992" y="3428626"/>
            <a:ext cx="1151546" cy="192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160" spc="-46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aarav@gmail.com</a:t>
            </a:r>
          </a:p>
          <a:p>
            <a:pPr algn="l">
              <a:lnSpc>
                <a:spcPts val="1740"/>
              </a:lnSpc>
            </a:pPr>
            <a:r>
              <a:rPr lang="en-US" sz="1160" spc="-46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rahul@gmail.com</a:t>
            </a:r>
          </a:p>
          <a:p>
            <a:pPr algn="l">
              <a:lnSpc>
                <a:spcPts val="1740"/>
              </a:lnSpc>
            </a:pPr>
            <a:r>
              <a:rPr lang="en-US" sz="1160" spc="-46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sneha@gmail.com</a:t>
            </a:r>
          </a:p>
          <a:p>
            <a:pPr algn="l">
              <a:lnSpc>
                <a:spcPts val="1740"/>
              </a:lnSpc>
            </a:pPr>
            <a:r>
              <a:rPr lang="en-US" sz="1160" spc="-46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vikram@gmail.com</a:t>
            </a:r>
          </a:p>
          <a:p>
            <a:pPr algn="l">
              <a:lnSpc>
                <a:spcPts val="1740"/>
              </a:lnSpc>
            </a:pPr>
            <a:r>
              <a:rPr lang="en-US" sz="1160" spc="-46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ananya Patei</a:t>
            </a:r>
          </a:p>
          <a:p>
            <a:pPr algn="l">
              <a:lnSpc>
                <a:spcPts val="1740"/>
              </a:lnSpc>
            </a:pPr>
            <a:r>
              <a:rPr lang="en-US" sz="1160" spc="-46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karthi@gmail.com</a:t>
            </a:r>
          </a:p>
          <a:p>
            <a:pPr algn="l">
              <a:lnSpc>
                <a:spcPts val="1740"/>
              </a:lnSpc>
            </a:pPr>
            <a:r>
              <a:rPr lang="en-US" sz="1160" spc="-46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megha@gmail.com</a:t>
            </a:r>
          </a:p>
          <a:p>
            <a:pPr algn="l">
              <a:lnSpc>
                <a:spcPts val="1740"/>
              </a:lnSpc>
            </a:pPr>
            <a:r>
              <a:rPr lang="en-US" sz="1160" spc="-46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rahul110@gmail.com</a:t>
            </a:r>
          </a:p>
          <a:p>
            <a:pPr algn="l">
              <a:lnSpc>
                <a:spcPts val="1740"/>
              </a:lnSpc>
            </a:pPr>
            <a:r>
              <a:rPr lang="en-US" sz="1160" spc="-46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shalesh@gmail.c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08833" y="3437937"/>
            <a:ext cx="660427" cy="19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987650001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987650002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987650003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987650004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987650005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987650006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987650007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987650008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9876543210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969670698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27533" y="3437937"/>
            <a:ext cx="588902" cy="19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2007-04-12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2007-08-21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2006-12-15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2007-02-10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2006-11-05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2007-06-18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2007-09-25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2006-10-30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2006-05-15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2007-03-12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74356" y="3437937"/>
            <a:ext cx="383956" cy="19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Male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Female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Male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Female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Male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Female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Male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Female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Male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Male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65397" y="3437937"/>
            <a:ext cx="399377" cy="19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General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OBC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SC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General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ST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OBC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General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SC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General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General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99509" y="3437937"/>
            <a:ext cx="749925" cy="19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Hyderabad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Warangal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Vijayawada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Hyderabad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Nizamabad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Secunderabad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Karnimagar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Bangalore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Hyderabad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Hyd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71641" y="3437937"/>
            <a:ext cx="692911" cy="19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450000.00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350000.00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280000.00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600000.00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7.90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120000.00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300000.00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250000.00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350000.00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10000000.00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50941" y="3428515"/>
            <a:ext cx="286335" cy="191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87043" y="3428515"/>
            <a:ext cx="437892" cy="191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Active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Active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Active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Active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Active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Active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Active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Active</a:t>
            </a:r>
          </a:p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Inactive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6516" y="1294341"/>
            <a:ext cx="4500562" cy="39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b="true" sz="2227" spc="21">
                <a:solidFill>
                  <a:srgbClr val="0F4B8B">
                    <a:alpha val="74902"/>
                  </a:srgbClr>
                </a:solidFill>
                <a:latin typeface="Cabin Bold"/>
                <a:ea typeface="Cabin Bold"/>
                <a:cs typeface="Cabin Bold"/>
                <a:sym typeface="Cabin Bold"/>
              </a:rPr>
              <a:t>STUDENT RECORDS VIEW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45330" y="1705390"/>
            <a:ext cx="1104718" cy="448211"/>
          </a:xfrm>
          <a:custGeom>
            <a:avLst/>
            <a:gdLst/>
            <a:ahLst/>
            <a:cxnLst/>
            <a:rect r="r" b="b" t="t" l="l"/>
            <a:pathLst>
              <a:path h="448211" w="1104718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57044" y="2209874"/>
            <a:ext cx="3947176" cy="198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9"/>
              </a:lnSpc>
            </a:pPr>
            <a:r>
              <a:rPr lang="en-US" sz="6108" spc="59" b="true">
                <a:solidFill>
                  <a:srgbClr val="0F4B8B"/>
                </a:solidFill>
                <a:latin typeface="Oswald Bold"/>
                <a:ea typeface="Oswald Bold"/>
                <a:cs typeface="Oswald Bold"/>
                <a:sym typeface="Oswald Bold"/>
              </a:rPr>
              <a:t>All Student Information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45330" y="4493047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62742" y="4815470"/>
            <a:ext cx="3377392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spc="-42" b="true">
                <a:solidFill>
                  <a:srgbClr val="0F4B8B">
                    <a:alpha val="84706"/>
                  </a:srgbClr>
                </a:solidFill>
                <a:latin typeface="Oswald Bold"/>
                <a:ea typeface="Oswald Bold"/>
                <a:cs typeface="Oswald Bold"/>
                <a:sym typeface="Oswald Bold"/>
              </a:rPr>
              <a:t>A complete overview of all</a:t>
            </a:r>
          </a:p>
          <a:p>
            <a:pPr algn="l">
              <a:lnSpc>
                <a:spcPts val="3210"/>
              </a:lnSpc>
            </a:pPr>
            <a:r>
              <a:rPr lang="en-US" sz="2140" spc="-42" b="true">
                <a:solidFill>
                  <a:srgbClr val="0F4B8B">
                    <a:alpha val="84706"/>
                  </a:srgbClr>
                </a:solidFill>
                <a:latin typeface="Oswald Bold"/>
                <a:ea typeface="Oswald Bold"/>
                <a:cs typeface="Oswald Bold"/>
                <a:sym typeface="Oswald Bold"/>
              </a:rPr>
              <a:t>students in one place.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2357" y="6035398"/>
            <a:ext cx="4415848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spc="-85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Review comprehensive student data</a:t>
            </a:r>
          </a:p>
          <a:p>
            <a:pPr algn="l">
              <a:lnSpc>
                <a:spcPts val="3210"/>
              </a:lnSpc>
            </a:pPr>
            <a:r>
              <a:rPr lang="en-US" sz="2140" spc="-85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in a clear tabular format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7516" y="7014353"/>
            <a:ext cx="3899945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spc="-85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Access key academic, personal,</a:t>
            </a:r>
          </a:p>
          <a:p>
            <a:pPr algn="l">
              <a:lnSpc>
                <a:spcPts val="3210"/>
              </a:lnSpc>
            </a:pPr>
            <a:r>
              <a:rPr lang="en-US" sz="2140" spc="-85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and financial details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5123" y="8008369"/>
            <a:ext cx="4139215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spc="-85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Empower better management and informed decision-making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94249" y="3437937"/>
            <a:ext cx="230613" cy="19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8.70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9.10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8.20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9.30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7.90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8.80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8.50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9.00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9.30</a:t>
            </a:r>
          </a:p>
          <a:p>
            <a:pPr algn="l">
              <a:lnSpc>
                <a:spcPts val="1670"/>
              </a:lnSpc>
            </a:pPr>
            <a:r>
              <a:rPr lang="en-US" sz="1113" spc="-44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9.10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72017" y="3142359"/>
            <a:ext cx="857690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AdmissionYear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96909" y="3142359"/>
            <a:ext cx="845052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Family/Income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86153" y="3142359"/>
            <a:ext cx="579200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        Name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87612" y="3142359"/>
            <a:ext cx="654416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DateOfBirth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29171" y="3142359"/>
            <a:ext cx="552475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StudentID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51857" y="3142359"/>
            <a:ext cx="505705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Category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70209" y="3142359"/>
            <a:ext cx="468952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Address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15239" y="3142359"/>
            <a:ext cx="405768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Gender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35421" y="3142359"/>
            <a:ext cx="313378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Email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06502" y="3142359"/>
            <a:ext cx="361540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Phone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21759" y="3142359"/>
            <a:ext cx="360842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Status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507509" y="3142359"/>
            <a:ext cx="335807" cy="2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spc="-48">
                <a:solidFill>
                  <a:srgbClr val="3B3B3B"/>
                </a:solidFill>
                <a:latin typeface="Oswald"/>
                <a:ea typeface="Oswald"/>
                <a:cs typeface="Oswald"/>
                <a:sym typeface="Oswald"/>
              </a:rPr>
              <a:t>CGPA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842" y="0"/>
            <a:ext cx="8061158" cy="10287000"/>
          </a:xfrm>
          <a:custGeom>
            <a:avLst/>
            <a:gdLst/>
            <a:ahLst/>
            <a:cxnLst/>
            <a:rect r="r" b="b" t="t" l="l"/>
            <a:pathLst>
              <a:path h="10287000" w="8061158">
                <a:moveTo>
                  <a:pt x="0" y="0"/>
                </a:moveTo>
                <a:lnTo>
                  <a:pt x="8061158" y="0"/>
                </a:lnTo>
                <a:lnTo>
                  <a:pt x="8061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11110" y="1071335"/>
            <a:ext cx="11550316" cy="8144330"/>
          </a:xfrm>
          <a:custGeom>
            <a:avLst/>
            <a:gdLst/>
            <a:ahLst/>
            <a:cxnLst/>
            <a:rect r="r" b="b" t="t" l="l"/>
            <a:pathLst>
              <a:path h="8144330" w="11550316">
                <a:moveTo>
                  <a:pt x="0" y="0"/>
                </a:moveTo>
                <a:lnTo>
                  <a:pt x="11550316" y="0"/>
                </a:lnTo>
                <a:lnTo>
                  <a:pt x="11550316" y="8144330"/>
                </a:lnTo>
                <a:lnTo>
                  <a:pt x="0" y="8144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9866" y="1279043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37952" y="1279043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94220" y="1279043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1395" y="1729193"/>
            <a:ext cx="4190950" cy="191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6386" b="true">
                <a:solidFill>
                  <a:srgbClr val="084F96"/>
                </a:solidFill>
                <a:latin typeface="Oswald Bold"/>
                <a:ea typeface="Oswald Bold"/>
                <a:cs typeface="Oswald Bold"/>
                <a:sym typeface="Oswald Bold"/>
              </a:rPr>
              <a:t>Add Student Form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3848060"/>
            <a:ext cx="1750048" cy="448211"/>
          </a:xfrm>
          <a:custGeom>
            <a:avLst/>
            <a:gdLst/>
            <a:ahLst/>
            <a:cxnLst/>
            <a:rect r="r" b="b" t="t" l="l"/>
            <a:pathLst>
              <a:path h="448211" w="1750048">
                <a:moveTo>
                  <a:pt x="0" y="0"/>
                </a:moveTo>
                <a:lnTo>
                  <a:pt x="1750048" y="0"/>
                </a:lnTo>
                <a:lnTo>
                  <a:pt x="175004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9991" y="4638793"/>
            <a:ext cx="4331326" cy="87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2" spc="-51" b="true">
                <a:solidFill>
                  <a:srgbClr val="1869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A simple, structured form to add new student records.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9657" y="6024563"/>
            <a:ext cx="4364729" cy="33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spc="-40">
                <a:solidFill>
                  <a:srgbClr val="393939"/>
                </a:solidFill>
                <a:latin typeface="Oswald"/>
                <a:ea typeface="Oswald"/>
                <a:cs typeface="Oswald"/>
                <a:sym typeface="Oswald"/>
              </a:rPr>
              <a:t>Capture essential details in one place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2385" y="6687240"/>
            <a:ext cx="5091937" cy="33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spc="-40">
                <a:solidFill>
                  <a:srgbClr val="393939"/>
                </a:solidFill>
                <a:latin typeface="Oswald"/>
                <a:ea typeface="Oswald"/>
                <a:cs typeface="Oswald"/>
                <a:sym typeface="Oswald"/>
              </a:rPr>
              <a:t>Supports complete and accurate data entry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702" y="7364978"/>
            <a:ext cx="4660290" cy="33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spc="-40">
                <a:solidFill>
                  <a:srgbClr val="393939"/>
                </a:solidFill>
                <a:latin typeface="Oswald"/>
                <a:ea typeface="Oswald"/>
                <a:cs typeface="Oswald"/>
                <a:sym typeface="Oswald"/>
              </a:rPr>
              <a:t>Designed for efficiency and ease of use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51748" y="1915460"/>
            <a:ext cx="1745541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862" b="true">
                <a:solidFill>
                  <a:srgbClr val="222222"/>
                </a:solidFill>
                <a:latin typeface="Oswald Bold"/>
                <a:ea typeface="Oswald Bold"/>
                <a:cs typeface="Oswald Bold"/>
                <a:sym typeface="Oswald Bold"/>
              </a:rPr>
              <a:t>ADD STUDENT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528440" y="2569017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528440" y="2995365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28440" y="3421712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28440" y="3848060"/>
            <a:ext cx="1542230" cy="448211"/>
          </a:xfrm>
          <a:custGeom>
            <a:avLst/>
            <a:gdLst/>
            <a:ahLst/>
            <a:cxnLst/>
            <a:rect r="r" b="b" t="t" l="l"/>
            <a:pathLst>
              <a:path h="448211" w="1542230">
                <a:moveTo>
                  <a:pt x="0" y="0"/>
                </a:moveTo>
                <a:lnTo>
                  <a:pt x="1542230" y="0"/>
                </a:lnTo>
                <a:lnTo>
                  <a:pt x="154223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528440" y="4285339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528440" y="4711687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528440" y="5356674"/>
            <a:ext cx="1542230" cy="218640"/>
          </a:xfrm>
          <a:custGeom>
            <a:avLst/>
            <a:gdLst/>
            <a:ahLst/>
            <a:cxnLst/>
            <a:rect r="r" b="b" t="t" l="l"/>
            <a:pathLst>
              <a:path h="218640" w="1542230">
                <a:moveTo>
                  <a:pt x="0" y="0"/>
                </a:moveTo>
                <a:lnTo>
                  <a:pt x="1542230" y="0"/>
                </a:lnTo>
                <a:lnTo>
                  <a:pt x="154223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528440" y="5783021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528440" y="6209369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528440" y="6635716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528440" y="7062064"/>
            <a:ext cx="1542230" cy="448211"/>
          </a:xfrm>
          <a:custGeom>
            <a:avLst/>
            <a:gdLst/>
            <a:ahLst/>
            <a:cxnLst/>
            <a:rect r="r" b="b" t="t" l="l"/>
            <a:pathLst>
              <a:path h="448211" w="1542230">
                <a:moveTo>
                  <a:pt x="0" y="0"/>
                </a:moveTo>
                <a:lnTo>
                  <a:pt x="1542230" y="0"/>
                </a:lnTo>
                <a:lnTo>
                  <a:pt x="154223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528440" y="7499343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664354" y="8133399"/>
            <a:ext cx="2406316" cy="448211"/>
          </a:xfrm>
          <a:custGeom>
            <a:avLst/>
            <a:gdLst/>
            <a:ahLst/>
            <a:cxnLst/>
            <a:rect r="r" b="b" t="t" l="l"/>
            <a:pathLst>
              <a:path h="448211" w="2406316">
                <a:moveTo>
                  <a:pt x="0" y="0"/>
                </a:moveTo>
                <a:lnTo>
                  <a:pt x="2406316" y="0"/>
                </a:lnTo>
                <a:lnTo>
                  <a:pt x="240631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405080" y="4023977"/>
            <a:ext cx="1586563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Date of Birth (YYYY-MM-DD):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02607" y="1373269"/>
            <a:ext cx="897111" cy="17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283" spc="-25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Add Student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87958" y="6689746"/>
            <a:ext cx="803457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Admission Year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84472" y="8301256"/>
            <a:ext cx="803556" cy="12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4"/>
              </a:lnSpc>
            </a:pPr>
            <a:r>
              <a:rPr lang="en-US" b="true" sz="878" spc="-17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SAVE STUDENT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88453" y="5801157"/>
            <a:ext cx="753959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Family Income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32339" y="4897506"/>
            <a:ext cx="475496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Category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31916" y="7608458"/>
            <a:ext cx="517789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Course ID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86454" y="5349331"/>
            <a:ext cx="421794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Address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13603" y="4460742"/>
            <a:ext cx="385751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Gender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67782" y="7156632"/>
            <a:ext cx="325672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Status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140906" y="3557091"/>
            <a:ext cx="334415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Phone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195010" y="3120327"/>
            <a:ext cx="281862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Email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94710" y="2683563"/>
            <a:ext cx="311845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Name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94647" y="6237921"/>
            <a:ext cx="318095" cy="1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"/>
              </a:lnSpc>
            </a:pPr>
            <a:r>
              <a:rPr lang="en-US" sz="931" spc="-18" b="true">
                <a:solidFill>
                  <a:srgbClr val="737373"/>
                </a:solidFill>
                <a:latin typeface="Oswald Bold"/>
                <a:ea typeface="Oswald Bold"/>
                <a:cs typeface="Oswald Bold"/>
                <a:sym typeface="Oswald Bold"/>
              </a:rPr>
              <a:t>CGPA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83110" y="0"/>
            <a:ext cx="7404890" cy="10287000"/>
          </a:xfrm>
          <a:custGeom>
            <a:avLst/>
            <a:gdLst/>
            <a:ahLst/>
            <a:cxnLst/>
            <a:rect r="r" b="b" t="t" l="l"/>
            <a:pathLst>
              <a:path h="10287000" w="7404890">
                <a:moveTo>
                  <a:pt x="0" y="0"/>
                </a:moveTo>
                <a:lnTo>
                  <a:pt x="7404890" y="0"/>
                </a:lnTo>
                <a:lnTo>
                  <a:pt x="7404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54842" y="1497682"/>
            <a:ext cx="12206584" cy="7717983"/>
          </a:xfrm>
          <a:custGeom>
            <a:avLst/>
            <a:gdLst/>
            <a:ahLst/>
            <a:cxnLst/>
            <a:rect r="r" b="b" t="t" l="l"/>
            <a:pathLst>
              <a:path h="7717983" w="12206584">
                <a:moveTo>
                  <a:pt x="0" y="0"/>
                </a:moveTo>
                <a:lnTo>
                  <a:pt x="12206584" y="0"/>
                </a:lnTo>
                <a:lnTo>
                  <a:pt x="12206584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73598" y="14976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00440" y="1705390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56708" y="1497682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12976" y="1497682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73598" y="2569017"/>
            <a:ext cx="11987828" cy="6438940"/>
          </a:xfrm>
          <a:custGeom>
            <a:avLst/>
            <a:gdLst/>
            <a:ahLst/>
            <a:cxnLst/>
            <a:rect r="r" b="b" t="t" l="l"/>
            <a:pathLst>
              <a:path h="6438940" w="11987828">
                <a:moveTo>
                  <a:pt x="0" y="0"/>
                </a:moveTo>
                <a:lnTo>
                  <a:pt x="11987828" y="0"/>
                </a:lnTo>
                <a:lnTo>
                  <a:pt x="11987828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591043" y="3211971"/>
            <a:ext cx="862100" cy="1974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2026-09-01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2026-09-02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2026-09-03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2026-09-04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2026-09-05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2026-09-06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2026-09-07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2026-09-08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65653" y="3211971"/>
            <a:ext cx="924593" cy="1974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Approved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Approved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Under Review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Approved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Approved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Approved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Approved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Pending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18616" y="3202754"/>
            <a:ext cx="2436045" cy="19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353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Excellent academic performance</a:t>
            </a:r>
          </a:p>
          <a:p>
            <a:pPr algn="l">
              <a:lnSpc>
                <a:spcPts val="2030"/>
              </a:lnSpc>
            </a:pPr>
            <a:r>
              <a:rPr lang="en-US" sz="1353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Eligible under women in technology c1</a:t>
            </a:r>
          </a:p>
          <a:p>
            <a:pPr algn="l">
              <a:lnSpc>
                <a:spcPts val="2030"/>
              </a:lnSpc>
            </a:pPr>
            <a:r>
              <a:rPr lang="en-US" sz="1353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Documents submitted</a:t>
            </a:r>
          </a:p>
          <a:p>
            <a:pPr algn="l">
              <a:lnSpc>
                <a:spcPts val="2030"/>
              </a:lnSpc>
            </a:pPr>
            <a:r>
              <a:rPr lang="en-US" sz="1353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High CGPA</a:t>
            </a:r>
          </a:p>
          <a:p>
            <a:pPr algn="l">
              <a:lnSpc>
                <a:spcPts val="2030"/>
              </a:lnSpc>
            </a:pPr>
            <a:r>
              <a:rPr lang="en-US" sz="1353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ST category verified</a:t>
            </a:r>
          </a:p>
          <a:p>
            <a:pPr algn="l">
              <a:lnSpc>
                <a:spcPts val="2030"/>
              </a:lnSpc>
            </a:pPr>
            <a:r>
              <a:rPr lang="en-US" sz="1353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Income documents submitted</a:t>
            </a:r>
          </a:p>
          <a:p>
            <a:pPr algn="l">
              <a:lnSpc>
                <a:spcPts val="2030"/>
              </a:lnSpc>
            </a:pPr>
            <a:r>
              <a:rPr lang="en-US" sz="1353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Innovation project submitted</a:t>
            </a:r>
          </a:p>
          <a:p>
            <a:pPr algn="l">
              <a:lnSpc>
                <a:spcPts val="2030"/>
              </a:lnSpc>
            </a:pPr>
            <a:r>
              <a:rPr lang="en-US" sz="1353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Verification in progress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1142" y="1827922"/>
            <a:ext cx="4216235" cy="16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2"/>
              </a:lnSpc>
            </a:pPr>
            <a:r>
              <a:rPr lang="en-US" sz="5617" b="true">
                <a:solidFill>
                  <a:srgbClr val="0B528F"/>
                </a:solidFill>
                <a:latin typeface="Cabin Bold"/>
                <a:ea typeface="Cabin Bold"/>
                <a:cs typeface="Cabin Bold"/>
                <a:sym typeface="Cabin Bold"/>
              </a:rPr>
              <a:t>Application Records View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3848060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23305" y="4528024"/>
            <a:ext cx="4688086" cy="86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 b="true">
                <a:solidFill>
                  <a:srgbClr val="1872B2"/>
                </a:solidFill>
                <a:latin typeface="Oswald Bold"/>
                <a:ea typeface="Oswald Bold"/>
                <a:cs typeface="Oswald Bold"/>
                <a:sym typeface="Oswald Bold"/>
              </a:rPr>
              <a:t>Monitor scholarship applications and their current statuses.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3175" y="5885077"/>
            <a:ext cx="4012940" cy="37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09">
                <a:solidFill>
                  <a:srgbClr val="323232"/>
                </a:solidFill>
                <a:latin typeface="Oswald"/>
                <a:ea typeface="Oswald"/>
                <a:cs typeface="Oswald"/>
                <a:sym typeface="Oswald"/>
              </a:rPr>
              <a:t>Review key details in one place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4986" y="6523169"/>
            <a:ext cx="3831865" cy="75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323232"/>
                </a:solidFill>
                <a:latin typeface="Oswald"/>
                <a:ea typeface="Oswald"/>
                <a:cs typeface="Oswald"/>
                <a:sym typeface="Oswald"/>
              </a:rPr>
              <a:t>Track each application through</a:t>
            </a:r>
          </a:p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323232"/>
                </a:solidFill>
                <a:latin typeface="Oswald"/>
                <a:ea typeface="Oswald"/>
                <a:cs typeface="Oswald"/>
                <a:sym typeface="Oswald"/>
              </a:rPr>
              <a:t>every stage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7196" y="7562367"/>
            <a:ext cx="3610907" cy="75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323232"/>
                </a:solidFill>
                <a:latin typeface="Oswald"/>
                <a:ea typeface="Oswald"/>
                <a:cs typeface="Oswald"/>
                <a:sym typeface="Oswald"/>
              </a:rPr>
              <a:t>Remarks provide context and</a:t>
            </a:r>
          </a:p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323232"/>
                </a:solidFill>
                <a:latin typeface="Oswald"/>
                <a:ea typeface="Oswald"/>
                <a:cs typeface="Oswald"/>
                <a:sym typeface="Oswald"/>
              </a:rPr>
              <a:t>important notes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60399" y="2101726"/>
            <a:ext cx="3192157" cy="34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b="true" sz="2337" spc="-69">
                <a:solidFill>
                  <a:srgbClr val="181818"/>
                </a:solidFill>
                <a:latin typeface="Oswald Bold"/>
                <a:ea typeface="Oswald Bold"/>
                <a:cs typeface="Oswald Bold"/>
                <a:sym typeface="Oswald Bold"/>
              </a:rPr>
              <a:t>APPLICATION RECORDS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82078" y="1660704"/>
            <a:ext cx="1335198" cy="22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Application Records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06895" y="3211971"/>
            <a:ext cx="101162" cy="1974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7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08918" y="3211971"/>
            <a:ext cx="101162" cy="1974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7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30574" y="3211971"/>
            <a:ext cx="101162" cy="1974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8</a:t>
            </a:r>
          </a:p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80895" y="2835450"/>
            <a:ext cx="921482" cy="22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ApplicationID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51019" y="2835450"/>
            <a:ext cx="919171" cy="22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ScholarshipID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81837" y="2835450"/>
            <a:ext cx="718624" cy="22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ApplyDate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65424" y="2835450"/>
            <a:ext cx="707602" cy="22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StudentID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147981" y="2835450"/>
            <a:ext cx="582349" cy="22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Remarks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40130" y="2835450"/>
            <a:ext cx="449451" cy="22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>
                <a:solidFill>
                  <a:srgbClr val="545454"/>
                </a:solidFill>
                <a:latin typeface="Oswald"/>
                <a:ea typeface="Oswald"/>
                <a:cs typeface="Oswald"/>
                <a:sym typeface="Oswald"/>
              </a:rPr>
              <a:t>Status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83110" y="0"/>
            <a:ext cx="7404890" cy="10287000"/>
          </a:xfrm>
          <a:custGeom>
            <a:avLst/>
            <a:gdLst/>
            <a:ahLst/>
            <a:cxnLst/>
            <a:rect r="r" b="b" t="t" l="l"/>
            <a:pathLst>
              <a:path h="10287000" w="7404890">
                <a:moveTo>
                  <a:pt x="0" y="0"/>
                </a:moveTo>
                <a:lnTo>
                  <a:pt x="7404890" y="0"/>
                </a:lnTo>
                <a:lnTo>
                  <a:pt x="7404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7732" y="634055"/>
            <a:ext cx="7842402" cy="8800250"/>
          </a:xfrm>
          <a:custGeom>
            <a:avLst/>
            <a:gdLst/>
            <a:ahLst/>
            <a:cxnLst/>
            <a:rect r="r" b="b" t="t" l="l"/>
            <a:pathLst>
              <a:path h="8800250" w="7842402">
                <a:moveTo>
                  <a:pt x="0" y="0"/>
                </a:moveTo>
                <a:lnTo>
                  <a:pt x="7842402" y="0"/>
                </a:lnTo>
                <a:lnTo>
                  <a:pt x="7842402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87732" y="852695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42574" y="1071335"/>
            <a:ext cx="448450" cy="218640"/>
          </a:xfrm>
          <a:custGeom>
            <a:avLst/>
            <a:gdLst/>
            <a:ahLst/>
            <a:cxnLst/>
            <a:rect r="r" b="b" t="t" l="l"/>
            <a:pathLst>
              <a:path h="218640" w="448450">
                <a:moveTo>
                  <a:pt x="0" y="0"/>
                </a:moveTo>
                <a:lnTo>
                  <a:pt x="448450" y="0"/>
                </a:lnTo>
                <a:lnTo>
                  <a:pt x="44845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17598" y="852695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73866" y="852695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04393" y="1670416"/>
            <a:ext cx="3890347" cy="49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6"/>
              </a:lnSpc>
            </a:pPr>
            <a:r>
              <a:rPr lang="en-US" b="true" sz="3236">
                <a:solidFill>
                  <a:srgbClr val="101010"/>
                </a:solidFill>
                <a:latin typeface="Oswald Bold"/>
                <a:ea typeface="Oswald Bold"/>
                <a:cs typeface="Oswald Bold"/>
                <a:sym typeface="Oswald Bold"/>
              </a:rPr>
              <a:t>ADD APPLICATION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445598" y="2995365"/>
            <a:ext cx="3707914" cy="437279"/>
          </a:xfrm>
          <a:custGeom>
            <a:avLst/>
            <a:gdLst/>
            <a:ahLst/>
            <a:cxnLst/>
            <a:rect r="r" b="b" t="t" l="l"/>
            <a:pathLst>
              <a:path h="437279" w="3707914">
                <a:moveTo>
                  <a:pt x="0" y="0"/>
                </a:moveTo>
                <a:lnTo>
                  <a:pt x="3707914" y="0"/>
                </a:lnTo>
                <a:lnTo>
                  <a:pt x="370791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45598" y="4066699"/>
            <a:ext cx="3707914" cy="437279"/>
          </a:xfrm>
          <a:custGeom>
            <a:avLst/>
            <a:gdLst/>
            <a:ahLst/>
            <a:cxnLst/>
            <a:rect r="r" b="b" t="t" l="l"/>
            <a:pathLst>
              <a:path h="437279" w="3707914">
                <a:moveTo>
                  <a:pt x="0" y="0"/>
                </a:moveTo>
                <a:lnTo>
                  <a:pt x="3707914" y="0"/>
                </a:lnTo>
                <a:lnTo>
                  <a:pt x="370791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45598" y="4919394"/>
            <a:ext cx="3707914" cy="655919"/>
          </a:xfrm>
          <a:custGeom>
            <a:avLst/>
            <a:gdLst/>
            <a:ahLst/>
            <a:cxnLst/>
            <a:rect r="r" b="b" t="t" l="l"/>
            <a:pathLst>
              <a:path h="655919" w="3707914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45598" y="5990729"/>
            <a:ext cx="3707914" cy="655919"/>
          </a:xfrm>
          <a:custGeom>
            <a:avLst/>
            <a:gdLst/>
            <a:ahLst/>
            <a:cxnLst/>
            <a:rect r="r" b="b" t="t" l="l"/>
            <a:pathLst>
              <a:path h="655919" w="3707914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94044" y="6198247"/>
            <a:ext cx="726890" cy="23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566">
                <a:solidFill>
                  <a:srgbClr val="404040"/>
                </a:solidFill>
                <a:latin typeface="Oswald"/>
                <a:ea typeface="Oswald"/>
                <a:cs typeface="Oswald"/>
                <a:sym typeface="Oswald"/>
              </a:rPr>
              <a:t>Pending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716000" y="6209369"/>
            <a:ext cx="437512" cy="229572"/>
          </a:xfrm>
          <a:custGeom>
            <a:avLst/>
            <a:gdLst/>
            <a:ahLst/>
            <a:cxnLst/>
            <a:rect r="r" b="b" t="t" l="l"/>
            <a:pathLst>
              <a:path h="229572" w="437512">
                <a:moveTo>
                  <a:pt x="0" y="0"/>
                </a:moveTo>
                <a:lnTo>
                  <a:pt x="437512" y="0"/>
                </a:lnTo>
                <a:lnTo>
                  <a:pt x="43751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45598" y="7062064"/>
            <a:ext cx="3707914" cy="655919"/>
          </a:xfrm>
          <a:custGeom>
            <a:avLst/>
            <a:gdLst/>
            <a:ahLst/>
            <a:cxnLst/>
            <a:rect r="r" b="b" t="t" l="l"/>
            <a:pathLst>
              <a:path h="655919" w="3707914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664354" y="7925691"/>
            <a:ext cx="3270402" cy="655919"/>
          </a:xfrm>
          <a:custGeom>
            <a:avLst/>
            <a:gdLst/>
            <a:ahLst/>
            <a:cxnLst/>
            <a:rect r="r" b="b" t="t" l="l"/>
            <a:pathLst>
              <a:path h="655919" w="3270402">
                <a:moveTo>
                  <a:pt x="0" y="0"/>
                </a:moveTo>
                <a:lnTo>
                  <a:pt x="3270402" y="0"/>
                </a:lnTo>
                <a:lnTo>
                  <a:pt x="327040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72412" y="1630680"/>
            <a:ext cx="5089312" cy="188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6"/>
              </a:lnSpc>
            </a:pPr>
            <a:r>
              <a:rPr lang="en-US" sz="6021" b="true">
                <a:solidFill>
                  <a:srgbClr val="134B89"/>
                </a:solidFill>
                <a:latin typeface="Oswald Bold"/>
                <a:ea typeface="Oswald Bold"/>
                <a:cs typeface="Oswald Bold"/>
                <a:sym typeface="Oswald Bold"/>
              </a:rPr>
              <a:t>Add Application Form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5330" y="3848060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7239" y="4507314"/>
            <a:ext cx="4606596" cy="127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679" b="true">
                <a:solidFill>
                  <a:srgbClr val="134B89"/>
                </a:solidFill>
                <a:latin typeface="Oswald Bold"/>
                <a:ea typeface="Oswald Bold"/>
                <a:cs typeface="Oswald Bold"/>
                <a:sym typeface="Oswald Bold"/>
              </a:rPr>
              <a:t>A simple and clean form for submitting new scholarship applications.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3305" y="6141195"/>
            <a:ext cx="5491758" cy="33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227" b="true">
                <a:solidFill>
                  <a:srgbClr val="404040"/>
                </a:solidFill>
                <a:latin typeface="Cabin Medium"/>
                <a:ea typeface="Cabin Medium"/>
                <a:cs typeface="Cabin Medium"/>
                <a:sym typeface="Cabin Medium"/>
              </a:rPr>
              <a:t>Capture essential details with ease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3305" y="6743629"/>
            <a:ext cx="5491758" cy="33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227" b="true">
                <a:solidFill>
                  <a:srgbClr val="404040"/>
                </a:solidFill>
                <a:latin typeface="Cabin Medium"/>
                <a:ea typeface="Cabin Medium"/>
                <a:cs typeface="Cabin Medium"/>
                <a:sym typeface="Cabin Medium"/>
              </a:rPr>
              <a:t>Set status and add remarks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3305" y="7376184"/>
            <a:ext cx="5491758" cy="33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227" b="true">
                <a:solidFill>
                  <a:srgbClr val="404040"/>
                </a:solidFill>
                <a:latin typeface="Cabin Medium"/>
                <a:ea typeface="Cabin Medium"/>
                <a:cs typeface="Cabin Medium"/>
                <a:sym typeface="Cabin Medium"/>
              </a:rPr>
              <a:t>Save applications in one click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51854" y="4677102"/>
            <a:ext cx="2570779" cy="23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566">
                <a:solidFill>
                  <a:srgbClr val="404040"/>
                </a:solidFill>
                <a:latin typeface="Oswald"/>
                <a:ea typeface="Oswald"/>
                <a:cs typeface="Oswald"/>
                <a:sym typeface="Oswald"/>
              </a:rPr>
              <a:t>Apply Date (YYYY-MM-DD):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01126" y="8065791"/>
            <a:ext cx="1872235" cy="23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566">
                <a:solidFill>
                  <a:srgbClr val="404040"/>
                </a:solidFill>
                <a:latin typeface="Oswald"/>
                <a:ea typeface="Oswald"/>
                <a:cs typeface="Oswald"/>
                <a:sym typeface="Oswald"/>
              </a:rPr>
              <a:t>SAVE APPLICATION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33221" y="1017317"/>
            <a:ext cx="1432572" cy="23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566">
                <a:solidFill>
                  <a:srgbClr val="404040">
                    <a:alpha val="60000"/>
                  </a:srgbClr>
                </a:solidFill>
                <a:latin typeface="Oswald"/>
                <a:ea typeface="Oswald"/>
                <a:cs typeface="Oswald"/>
                <a:sym typeface="Oswald"/>
              </a:rPr>
              <a:t>Add Application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66331" y="3637904"/>
            <a:ext cx="1341826" cy="23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566">
                <a:solidFill>
                  <a:srgbClr val="404040"/>
                </a:solidFill>
                <a:latin typeface="Oswald"/>
                <a:ea typeface="Oswald"/>
                <a:cs typeface="Oswald"/>
                <a:sym typeface="Oswald"/>
              </a:rPr>
              <a:t>Scholarship ID: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26463" y="2628827"/>
            <a:ext cx="1021562" cy="23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566">
                <a:solidFill>
                  <a:srgbClr val="404040"/>
                </a:solidFill>
                <a:latin typeface="Oswald"/>
                <a:ea typeface="Oswald"/>
                <a:cs typeface="Oswald"/>
                <a:sym typeface="Oswald"/>
              </a:rPr>
              <a:t>Student ID: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26437" y="6770558"/>
            <a:ext cx="821613" cy="23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566">
                <a:solidFill>
                  <a:srgbClr val="404040"/>
                </a:solidFill>
                <a:latin typeface="Oswald"/>
                <a:ea typeface="Oswald"/>
                <a:cs typeface="Oswald"/>
                <a:sym typeface="Oswald"/>
              </a:rPr>
              <a:t>Remarks: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31662" y="5701239"/>
            <a:ext cx="611163" cy="23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566">
                <a:solidFill>
                  <a:srgbClr val="404040"/>
                </a:solidFill>
                <a:latin typeface="Oswald"/>
                <a:ea typeface="Oswald"/>
                <a:cs typeface="Oswald"/>
                <a:sym typeface="Oswald"/>
              </a:rPr>
              <a:t>Status: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0"/>
            <a:ext cx="7842402" cy="10287000"/>
          </a:xfrm>
          <a:custGeom>
            <a:avLst/>
            <a:gdLst/>
            <a:ahLst/>
            <a:cxnLst/>
            <a:rect r="r" b="b" t="t" l="l"/>
            <a:pathLst>
              <a:path h="10287000" w="7842402">
                <a:moveTo>
                  <a:pt x="0" y="0"/>
                </a:moveTo>
                <a:lnTo>
                  <a:pt x="7842402" y="0"/>
                </a:lnTo>
                <a:lnTo>
                  <a:pt x="7842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2705" y="1704607"/>
            <a:ext cx="5096640" cy="1999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6"/>
              </a:lnSpc>
            </a:pPr>
            <a:r>
              <a:rPr lang="en-US" sz="6612" b="true">
                <a:solidFill>
                  <a:srgbClr val="084B94"/>
                </a:solidFill>
                <a:latin typeface="Oswald Bold"/>
                <a:ea typeface="Oswald Bold"/>
                <a:cs typeface="Oswald Bold"/>
                <a:sym typeface="Oswald Bold"/>
              </a:rPr>
              <a:t>Update and Delete Dialogs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4066699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2983" y="4559254"/>
            <a:ext cx="4711041" cy="899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sz="2505" b="true">
                <a:solidFill>
                  <a:srgbClr val="1C6DB8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ID input is required before any update or delete action.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6711" y="5899851"/>
            <a:ext cx="4338308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>
                <a:solidFill>
                  <a:srgbClr val="3D3D3D"/>
                </a:solidFill>
                <a:latin typeface="Oswald"/>
                <a:ea typeface="Oswald"/>
                <a:cs typeface="Oswald"/>
                <a:sym typeface="Oswald"/>
              </a:rPr>
              <a:t>Ensures controlled, step-by-step record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6869" y="6923988"/>
            <a:ext cx="3322449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>
                <a:solidFill>
                  <a:srgbClr val="3D3D3D"/>
                </a:solidFill>
                <a:latin typeface="Oswald"/>
                <a:ea typeface="Oswald"/>
                <a:cs typeface="Oswald"/>
                <a:sym typeface="Oswald"/>
              </a:rPr>
              <a:t>Prevents unauthorized or</a:t>
            </a:r>
          </a:p>
          <a:p>
            <a:pPr algn="l">
              <a:lnSpc>
                <a:spcPts val="3210"/>
              </a:lnSpc>
            </a:pPr>
            <a:r>
              <a:rPr lang="en-US" sz="2140">
                <a:solidFill>
                  <a:srgbClr val="3D3D3D"/>
                </a:solidFill>
                <a:latin typeface="Oswald"/>
                <a:ea typeface="Oswald"/>
                <a:cs typeface="Oswald"/>
                <a:sym typeface="Oswald"/>
              </a:rPr>
              <a:t>accidental changes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0038" y="7963186"/>
            <a:ext cx="3005564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>
                <a:solidFill>
                  <a:srgbClr val="3D3D3D"/>
                </a:solidFill>
                <a:latin typeface="Oswald"/>
                <a:ea typeface="Oswald"/>
                <a:cs typeface="Oswald"/>
                <a:sym typeface="Oswald"/>
              </a:rPr>
              <a:t>Supports data integrity</a:t>
            </a:r>
          </a:p>
          <a:p>
            <a:pPr algn="l">
              <a:lnSpc>
                <a:spcPts val="3210"/>
              </a:lnSpc>
            </a:pPr>
            <a:r>
              <a:rPr lang="en-US" sz="2140">
                <a:solidFill>
                  <a:srgbClr val="3D3D3D"/>
                </a:solidFill>
                <a:latin typeface="Oswald"/>
                <a:ea typeface="Oswald"/>
                <a:cs typeface="Oswald"/>
                <a:sym typeface="Oswald"/>
              </a:rPr>
              <a:t>across all operations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51818" y="5356674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78488" y="5356674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2354" y="4285339"/>
            <a:ext cx="3489158" cy="2579949"/>
          </a:xfrm>
          <a:custGeom>
            <a:avLst/>
            <a:gdLst/>
            <a:ahLst/>
            <a:cxnLst/>
            <a:rect r="r" b="b" t="t" l="l"/>
            <a:pathLst>
              <a:path h="2579949" w="3489158">
                <a:moveTo>
                  <a:pt x="0" y="0"/>
                </a:moveTo>
                <a:lnTo>
                  <a:pt x="3489158" y="0"/>
                </a:lnTo>
                <a:lnTo>
                  <a:pt x="348915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82253" y="5135288"/>
            <a:ext cx="2748889" cy="33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1929" b="tru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Enter Student ID to update: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008086" y="4285339"/>
            <a:ext cx="3707914" cy="2579949"/>
          </a:xfrm>
          <a:custGeom>
            <a:avLst/>
            <a:gdLst/>
            <a:ahLst/>
            <a:cxnLst/>
            <a:rect r="r" b="b" t="t" l="l"/>
            <a:pathLst>
              <a:path h="2579949" w="3707914">
                <a:moveTo>
                  <a:pt x="0" y="0"/>
                </a:moveTo>
                <a:lnTo>
                  <a:pt x="3707914" y="0"/>
                </a:lnTo>
                <a:lnTo>
                  <a:pt x="370791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309846" y="5125013"/>
            <a:ext cx="3073187" cy="34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1889" b="tru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Enter Application ID to update: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923818" y="4285339"/>
            <a:ext cx="3937608" cy="2579949"/>
          </a:xfrm>
          <a:custGeom>
            <a:avLst/>
            <a:gdLst/>
            <a:ahLst/>
            <a:cxnLst/>
            <a:rect r="r" b="b" t="t" l="l"/>
            <a:pathLst>
              <a:path h="2579949" w="3937608">
                <a:moveTo>
                  <a:pt x="0" y="0"/>
                </a:moveTo>
                <a:lnTo>
                  <a:pt x="3937608" y="0"/>
                </a:lnTo>
                <a:lnTo>
                  <a:pt x="393760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355749" y="5125013"/>
            <a:ext cx="2997722" cy="34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889" b="tru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Enter Application ID to delete: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04034" y="6164211"/>
            <a:ext cx="674092" cy="34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4"/>
              </a:lnSpc>
            </a:pPr>
            <a:r>
              <a:rPr lang="en-US" sz="1889" b="tru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Cancel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67542" y="6164211"/>
            <a:ext cx="674092" cy="34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4"/>
              </a:lnSpc>
            </a:pPr>
            <a:r>
              <a:rPr lang="en-US" sz="1889" b="tru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Cancel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68815" y="6164211"/>
            <a:ext cx="674092" cy="34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4"/>
              </a:lnSpc>
            </a:pPr>
            <a:r>
              <a:rPr lang="en-US" sz="1889" b="tru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Cancel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41058" y="6174486"/>
            <a:ext cx="282486" cy="33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4"/>
              </a:lnSpc>
            </a:pPr>
            <a:r>
              <a:rPr lang="en-US" b="true" sz="1929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OK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32628" y="6174486"/>
            <a:ext cx="282486" cy="33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4"/>
              </a:lnSpc>
            </a:pPr>
            <a:r>
              <a:rPr lang="en-US" b="true" sz="1929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OK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77777" y="6174486"/>
            <a:ext cx="282486" cy="33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4"/>
              </a:lnSpc>
            </a:pPr>
            <a:r>
              <a:rPr lang="en-US" b="true" sz="1929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OK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364182" cy="4930326"/>
          </a:xfrm>
          <a:custGeom>
            <a:avLst/>
            <a:gdLst/>
            <a:ahLst/>
            <a:cxnLst/>
            <a:rect r="r" b="b" t="t" l="l"/>
            <a:pathLst>
              <a:path h="4930326" w="4364182">
                <a:moveTo>
                  <a:pt x="0" y="0"/>
                </a:moveTo>
                <a:lnTo>
                  <a:pt x="4364182" y="0"/>
                </a:lnTo>
                <a:lnTo>
                  <a:pt x="4364182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40976" y="3848060"/>
            <a:ext cx="5447024" cy="6438940"/>
          </a:xfrm>
          <a:custGeom>
            <a:avLst/>
            <a:gdLst/>
            <a:ahLst/>
            <a:cxnLst/>
            <a:rect r="r" b="b" t="t" l="l"/>
            <a:pathLst>
              <a:path h="6438940" w="5447024">
                <a:moveTo>
                  <a:pt x="0" y="0"/>
                </a:moveTo>
                <a:lnTo>
                  <a:pt x="5447024" y="0"/>
                </a:lnTo>
                <a:lnTo>
                  <a:pt x="5447024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15263" y="3058004"/>
            <a:ext cx="9441910" cy="19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1"/>
              </a:lnSpc>
            </a:pPr>
            <a:r>
              <a:rPr lang="en-US" b="true" sz="14941" spc="299">
                <a:solidFill>
                  <a:srgbClr val="0C488B"/>
                </a:solidFill>
                <a:latin typeface="Oswald Bold"/>
                <a:ea typeface="Oswald Bold"/>
                <a:cs typeface="Oswald Bold"/>
                <a:sym typeface="Oswald Bold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268976" y="4919394"/>
            <a:ext cx="1750048" cy="448211"/>
          </a:xfrm>
          <a:custGeom>
            <a:avLst/>
            <a:gdLst/>
            <a:ahLst/>
            <a:cxnLst/>
            <a:rect r="r" b="b" t="t" l="l"/>
            <a:pathLst>
              <a:path h="448211" w="1750048">
                <a:moveTo>
                  <a:pt x="0" y="0"/>
                </a:moveTo>
                <a:lnTo>
                  <a:pt x="1750048" y="0"/>
                </a:lnTo>
                <a:lnTo>
                  <a:pt x="175004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DAHXKwO_KG0</dc:identifier>
  <dcterms:modified xsi:type="dcterms:W3CDTF">2011-08-01T06:04:30Z</dcterms:modified>
  <cp:revision>1</cp:revision>
  <dc:title>Scholarship Aid System UI</dc:title>
</cp:coreProperties>
</file>