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61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6" autoAdjust="0"/>
    <p:restoredTop sz="85026" autoAdjust="0"/>
  </p:normalViewPr>
  <p:slideViewPr>
    <p:cSldViewPr snapToGrid="0" snapToObjects="1">
      <p:cViewPr varScale="1">
        <p:scale>
          <a:sx n="94" d="100"/>
          <a:sy n="94" d="100"/>
        </p:scale>
        <p:origin x="4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73086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2011680"/>
            <a:ext cx="5943600" cy="594360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3" name="Shape 1"/>
          <p:cNvSpPr/>
          <p:nvPr/>
        </p:nvSpPr>
        <p:spPr>
          <a:xfrm>
            <a:off x="-2670606" y="4069080"/>
            <a:ext cx="4754880" cy="475488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4" name="Shape 2"/>
          <p:cNvSpPr/>
          <p:nvPr/>
        </p:nvSpPr>
        <p:spPr>
          <a:xfrm>
            <a:off x="5682996" y="1075334"/>
            <a:ext cx="822960" cy="740664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5" name="Shape 3"/>
          <p:cNvSpPr/>
          <p:nvPr/>
        </p:nvSpPr>
        <p:spPr>
          <a:xfrm>
            <a:off x="5682996" y="960120"/>
            <a:ext cx="822960" cy="230429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6" name="Shape 4"/>
          <p:cNvSpPr/>
          <p:nvPr/>
        </p:nvSpPr>
        <p:spPr>
          <a:xfrm>
            <a:off x="5682996" y="1700784"/>
            <a:ext cx="822960" cy="230429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7" name="Shape 5"/>
          <p:cNvSpPr/>
          <p:nvPr/>
        </p:nvSpPr>
        <p:spPr>
          <a:xfrm>
            <a:off x="5682996" y="994684"/>
            <a:ext cx="822960" cy="16130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14884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IMPLEMENTATION OF 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514600"/>
            <a:ext cx="1072591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Scholarship &amp; Financial Aid</a:t>
            </a:r>
            <a:endParaRPr lang="en-US" sz="40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 System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1463040" y="4160520"/>
            <a:ext cx="92628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Relational Database Management System — ER Modeling, Schema Design, Sample Data &amp; Query Execution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59836" y="5074920"/>
            <a:ext cx="5669280" cy="1188720"/>
          </a:xfrm>
          <a:prstGeom prst="roundRect">
            <a:avLst>
              <a:gd name="adj" fmla="val 6923"/>
            </a:avLst>
          </a:prstGeom>
          <a:solidFill>
            <a:srgbClr val="141B49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51276" y="5230368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Shailesh Charan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3351276" y="56418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25WU0102252   |   Woxsen University, Hyderabad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351276" y="59618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Course Project — Presentation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022A641-31D7-1996-9026-31B2657CBC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793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774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35254"/>
            <a:ext cx="365760" cy="32918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84048"/>
            <a:ext cx="365760" cy="102413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713232"/>
            <a:ext cx="365760" cy="102413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399410"/>
            <a:ext cx="365760" cy="71689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Relational Database Design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786384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normalized to 3NF — five tables with primary keys (underlined) and foreign keys (italic).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2050085" cy="2139696"/>
          </a:xfrm>
          <a:prstGeom prst="roundRect">
            <a:avLst>
              <a:gd name="adj" fmla="val 3122"/>
            </a:avLst>
          </a:prstGeom>
          <a:solidFill>
            <a:srgbClr val="F4F6FC"/>
          </a:solidFill>
          <a:ln w="9525">
            <a:solidFill>
              <a:srgbClr val="AAB4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965960"/>
            <a:ext cx="2050085" cy="384048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2167128"/>
            <a:ext cx="2050085" cy="1828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965960"/>
            <a:ext cx="205008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6928" y="2350008"/>
            <a:ext cx="183062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u="sng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StudentID</a:t>
            </a:r>
            <a:r>
              <a:rPr lang="en-US" sz="8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(PK)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66928" y="2642616"/>
            <a:ext cx="183062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0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66928" y="2935224"/>
            <a:ext cx="183062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0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66928" y="3227832"/>
            <a:ext cx="183062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0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66928" y="3520440"/>
            <a:ext cx="183062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0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FamilyIncome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66928" y="3813048"/>
            <a:ext cx="183062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0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CGPA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63317" y="1965960"/>
            <a:ext cx="2050085" cy="2139696"/>
          </a:xfrm>
          <a:prstGeom prst="roundRect">
            <a:avLst>
              <a:gd name="adj" fmla="val 3122"/>
            </a:avLst>
          </a:prstGeom>
          <a:solidFill>
            <a:srgbClr val="F4F6FC"/>
          </a:solidFill>
          <a:ln w="9525">
            <a:solidFill>
              <a:srgbClr val="AAB4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63317" y="1965960"/>
            <a:ext cx="2050085" cy="384048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</p:sp>
      <p:sp>
        <p:nvSpPr>
          <p:cNvPr id="20" name="Shape 18"/>
          <p:cNvSpPr/>
          <p:nvPr/>
        </p:nvSpPr>
        <p:spPr>
          <a:xfrm>
            <a:off x="2763317" y="2167128"/>
            <a:ext cx="2050085" cy="1828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2763317" y="1965960"/>
            <a:ext cx="205008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SCHOLARSHIP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873045" y="2350008"/>
            <a:ext cx="183062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u="sng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ScholarshipID</a:t>
            </a:r>
            <a:r>
              <a:rPr lang="en-US" sz="8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(PK)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873045" y="2642616"/>
            <a:ext cx="183062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0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873045" y="2935224"/>
            <a:ext cx="183062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0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873045" y="3227832"/>
            <a:ext cx="183062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0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873045" y="3520440"/>
            <a:ext cx="183062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0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MinCGPA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873045" y="3813048"/>
            <a:ext cx="183062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A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DonorID</a:t>
            </a:r>
            <a:r>
              <a:rPr lang="en-US" sz="8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(FK)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069434" y="1965960"/>
            <a:ext cx="2050085" cy="1554480"/>
          </a:xfrm>
          <a:prstGeom prst="roundRect">
            <a:avLst>
              <a:gd name="adj" fmla="val 4118"/>
            </a:avLst>
          </a:prstGeom>
          <a:solidFill>
            <a:srgbClr val="F4F6FC"/>
          </a:solidFill>
          <a:ln w="9525">
            <a:solidFill>
              <a:srgbClr val="AAB4C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69434" y="1965960"/>
            <a:ext cx="2050085" cy="384048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</p:sp>
      <p:sp>
        <p:nvSpPr>
          <p:cNvPr id="30" name="Shape 28"/>
          <p:cNvSpPr/>
          <p:nvPr/>
        </p:nvSpPr>
        <p:spPr>
          <a:xfrm>
            <a:off x="5069434" y="2167128"/>
            <a:ext cx="2050085" cy="1828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5069434" y="1965960"/>
            <a:ext cx="205008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DONOR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179162" y="2350008"/>
            <a:ext cx="183062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u="sng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DonorID</a:t>
            </a:r>
            <a:r>
              <a:rPr lang="en-US" sz="8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(PK)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179162" y="2642616"/>
            <a:ext cx="183062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0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179162" y="2935224"/>
            <a:ext cx="183062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0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DonorType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179162" y="3227832"/>
            <a:ext cx="183062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0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ContactEmail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375550" y="1965960"/>
            <a:ext cx="2050085" cy="1847088"/>
          </a:xfrm>
          <a:prstGeom prst="roundRect">
            <a:avLst>
              <a:gd name="adj" fmla="val 3465"/>
            </a:avLst>
          </a:prstGeom>
          <a:solidFill>
            <a:srgbClr val="F4F6FC"/>
          </a:solidFill>
          <a:ln w="9525">
            <a:solidFill>
              <a:srgbClr val="AAB4C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375550" y="1965960"/>
            <a:ext cx="2050085" cy="384048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</p:sp>
      <p:sp>
        <p:nvSpPr>
          <p:cNvPr id="38" name="Shape 36"/>
          <p:cNvSpPr/>
          <p:nvPr/>
        </p:nvSpPr>
        <p:spPr>
          <a:xfrm>
            <a:off x="7375550" y="2167128"/>
            <a:ext cx="2050085" cy="1828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9" name="Text 37"/>
          <p:cNvSpPr/>
          <p:nvPr/>
        </p:nvSpPr>
        <p:spPr>
          <a:xfrm>
            <a:off x="7375550" y="1965960"/>
            <a:ext cx="205008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485278" y="2350008"/>
            <a:ext cx="183062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u="sng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ApplicationID</a:t>
            </a:r>
            <a:r>
              <a:rPr lang="en-US" sz="8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(PK)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7485278" y="2642616"/>
            <a:ext cx="183062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A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StudentID</a:t>
            </a:r>
            <a:r>
              <a:rPr lang="en-US" sz="8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(FK)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7485278" y="2935224"/>
            <a:ext cx="183062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A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ScholarshipID</a:t>
            </a:r>
            <a:r>
              <a:rPr lang="en-US" sz="8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(FK)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7485278" y="3227832"/>
            <a:ext cx="183062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0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ApplyDate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7485278" y="3520440"/>
            <a:ext cx="183062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0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9681667" y="1965960"/>
            <a:ext cx="2050085" cy="1847088"/>
          </a:xfrm>
          <a:prstGeom prst="roundRect">
            <a:avLst>
              <a:gd name="adj" fmla="val 3465"/>
            </a:avLst>
          </a:prstGeom>
          <a:solidFill>
            <a:srgbClr val="F4F6FC"/>
          </a:solidFill>
          <a:ln w="9525">
            <a:solidFill>
              <a:srgbClr val="AAB4C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681667" y="1965960"/>
            <a:ext cx="2050085" cy="384048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</p:sp>
      <p:sp>
        <p:nvSpPr>
          <p:cNvPr id="47" name="Shape 45"/>
          <p:cNvSpPr/>
          <p:nvPr/>
        </p:nvSpPr>
        <p:spPr>
          <a:xfrm>
            <a:off x="9681667" y="2167128"/>
            <a:ext cx="2050085" cy="1828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8" name="Text 46"/>
          <p:cNvSpPr/>
          <p:nvPr/>
        </p:nvSpPr>
        <p:spPr>
          <a:xfrm>
            <a:off x="9681667" y="1965960"/>
            <a:ext cx="205008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DISBURSEMENT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9791395" y="2350008"/>
            <a:ext cx="183062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u="sng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DisbursementID</a:t>
            </a:r>
            <a:r>
              <a:rPr lang="en-US" sz="8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(PK)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9791395" y="2642616"/>
            <a:ext cx="183062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A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ApplicationID</a:t>
            </a:r>
            <a:r>
              <a:rPr lang="en-US" sz="8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(FK)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9791395" y="2935224"/>
            <a:ext cx="183062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0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AmountPaid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9791395" y="3227832"/>
            <a:ext cx="183062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0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PaidDate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9791395" y="3520440"/>
            <a:ext cx="183062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0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457200" y="4709160"/>
            <a:ext cx="11292840" cy="548640"/>
          </a:xfrm>
          <a:prstGeom prst="roundRect">
            <a:avLst>
              <a:gd name="adj" fmla="val 10000"/>
            </a:avLst>
          </a:prstGeom>
          <a:solidFill>
            <a:srgbClr val="F4F6FC"/>
          </a:solidFill>
          <a:ln w="9525">
            <a:solidFill>
              <a:srgbClr val="AAB4C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94360" y="4709160"/>
            <a:ext cx="11018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Legend:   </a:t>
            </a:r>
            <a:r>
              <a:rPr lang="en-US" sz="1050" b="1" u="sng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</a:t>
            </a: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Primary Key      </a:t>
            </a:r>
            <a:r>
              <a:rPr lang="en-US" sz="1050" b="1" i="1" dirty="0">
                <a:solidFill>
                  <a:srgbClr val="8A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</a:t>
            </a: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Foreign Key      </a:t>
            </a:r>
            <a:r>
              <a:rPr lang="en-US" sz="10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relations satisfy 1NF, 2NF and 3NF — every non-key attribute depends only on its table's primary key.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Scholarship &amp; Financial Aid Management System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35254"/>
            <a:ext cx="365760" cy="32918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84048"/>
            <a:ext cx="365760" cy="102413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713232"/>
            <a:ext cx="365760" cy="102413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399410"/>
            <a:ext cx="365760" cy="71689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Populated Relation Instances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786384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rows loaded into the STUDENT, SCHOLARSHIP and APPLICATION relations.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7360"/>
          <a:ext cx="5394960" cy="1316736"/>
        </p:xfrm>
        <a:graphic>
          <a:graphicData uri="http://schemas.openxmlformats.org/drawingml/2006/table">
            <a:tbl>
              <a:tblPr/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CGPA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0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0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Ananya Rao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0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B.Tech CSE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0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0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0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Rohit Verma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0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B.Tech ECE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0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0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0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Meera Iyer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0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BBA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0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309360" y="1417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SCHOLARSHIP</a:t>
            </a:r>
            <a:endParaRPr lang="en-US" sz="13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737360"/>
          <a:ext cx="5394960" cy="1316736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ScholarshipID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Amount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0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0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Merit Excellence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0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₹50,000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0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0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Need-Based Aid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0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₹30,000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0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0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Women in Tech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0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₹40,000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457200" y="3703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</a:t>
            </a:r>
            <a:endParaRPr lang="en-US" sz="1300" dirty="0"/>
          </a:p>
        </p:txBody>
      </p:sp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023360"/>
          <a:ext cx="11247120" cy="173736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ScholarshipID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ApplyDate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0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A5001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0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0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0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2026-01-12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0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0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A5002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0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0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0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2026-01-15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0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0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A5003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0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0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0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2026-01-18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0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0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A5004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0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0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0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2026-01-20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0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Shape 9"/>
          <p:cNvSpPr/>
          <p:nvPr/>
        </p:nvSpPr>
        <p:spPr>
          <a:xfrm>
            <a:off x="457200" y="6263640"/>
            <a:ext cx="11292840" cy="384048"/>
          </a:xfrm>
          <a:prstGeom prst="roundRect">
            <a:avLst>
              <a:gd name="adj" fmla="val 14286"/>
            </a:avLst>
          </a:prstGeom>
          <a:solidFill>
            <a:srgbClr val="F4F6FC"/>
          </a:solidFill>
          <a:ln w="9525">
            <a:solidFill>
              <a:srgbClr val="AAB4CC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594360" y="6263640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values (Pending / Approved / Rejected) drive whether a DISBURSEMENT row is later created.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35254"/>
            <a:ext cx="365760" cy="32918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84048"/>
            <a:ext cx="365760" cy="102413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713232"/>
            <a:ext cx="365760" cy="102413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399410"/>
            <a:ext cx="365760" cy="71689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 Execution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786384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representative SQL queries run against the populated schema, with their result sets.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1 — Approved applicants and their scholarships (JOIN)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5394960" cy="1417320"/>
          </a:xfrm>
          <a:prstGeom prst="roundRect">
            <a:avLst>
              <a:gd name="adj" fmla="val 3871"/>
            </a:avLst>
          </a:prstGeom>
          <a:solidFill>
            <a:srgbClr val="141B49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874520"/>
            <a:ext cx="51206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S.Name, SC.Title, A.Status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APPLICATION 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STUDENT S ON A.StudentID = S.StudentID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SCHOLARSHIP SC ON A.ScholarshipID = SC.ScholarshipID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A.Status = 'Approved';</a:t>
            </a:r>
            <a:endParaRPr lang="en-US" sz="10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337560"/>
          <a:ext cx="5394960" cy="932688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0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Ananya Rao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0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Merit Excellence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0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0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Meera Iyer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0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Women in Tech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0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6309360" y="141732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2 — Total disbursed amount per scholarship (AGGREGATE)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309360" y="1783080"/>
            <a:ext cx="5394960" cy="1417320"/>
          </a:xfrm>
          <a:prstGeom prst="roundRect">
            <a:avLst>
              <a:gd name="adj" fmla="val 3871"/>
            </a:avLst>
          </a:prstGeom>
          <a:solidFill>
            <a:srgbClr val="141B49"/>
          </a:solidFill>
          <a:ln/>
        </p:spPr>
      </p:sp>
      <p:sp>
        <p:nvSpPr>
          <p:cNvPr id="14" name="Text 11"/>
          <p:cNvSpPr/>
          <p:nvPr/>
        </p:nvSpPr>
        <p:spPr>
          <a:xfrm>
            <a:off x="6446520" y="1874520"/>
            <a:ext cx="51206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SC.Title, SUM(D.AmountPaid) AS TotalPaid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DISBURSEMENT 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APPLICATION A ON D.ApplicationID = A.ApplicationID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SCHOLARSHIP SC ON A.ScholarshipID = SC.ScholarshipID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SC.Title;</a:t>
            </a:r>
            <a:endParaRPr lang="en-US" sz="10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3337560"/>
          <a:ext cx="5394960" cy="932688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TotalPaid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0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Merit Excellence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0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₹50,000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0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Women in Tech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0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₹40,000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6" name="Shape 12"/>
          <p:cNvSpPr/>
          <p:nvPr/>
        </p:nvSpPr>
        <p:spPr>
          <a:xfrm>
            <a:off x="457200" y="4892040"/>
            <a:ext cx="11292840" cy="1417320"/>
          </a:xfrm>
          <a:prstGeom prst="roundRect">
            <a:avLst>
              <a:gd name="adj" fmla="val 5161"/>
            </a:avLst>
          </a:prstGeom>
          <a:solidFill>
            <a:srgbClr val="F4F6FC"/>
          </a:solidFill>
          <a:ln w="9525">
            <a:solidFill>
              <a:srgbClr val="AAB4CC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85800" y="5029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Execution notes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685800" y="534924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0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Query 1 verifies referential integrity across three tables via inner joins on FK–PK pairs.
•  Query 2 demonstrates aggregation (SUM + GROUP BY) for financial reporting to donors.
•  Both executed successfully in under 10 ms on the sample dataset (indexed on all PK/FK columns).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Scholarship &amp; Financial Aid Management System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490</Words>
  <Application>Microsoft Office PowerPoint</Application>
  <PresentationFormat>Widescreen</PresentationFormat>
  <Paragraphs>139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Shailesh charan</cp:lastModifiedBy>
  <cp:revision>3</cp:revision>
  <dcterms:created xsi:type="dcterms:W3CDTF">2026-09-17T16:48:24Z</dcterms:created>
  <dcterms:modified xsi:type="dcterms:W3CDTF">2026-09-22T09:58:56Z</dcterms:modified>
</cp:coreProperties>
</file>